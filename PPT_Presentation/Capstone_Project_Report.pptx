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9"/>
  </p:notesMasterIdLst>
  <p:handoutMasterIdLst>
    <p:handoutMasterId r:id="rId60"/>
  </p:handoutMasterIdLst>
  <p:sldIdLst>
    <p:sldId id="288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6" r:id="rId13"/>
    <p:sldId id="303" r:id="rId14"/>
    <p:sldId id="304" r:id="rId15"/>
    <p:sldId id="305" r:id="rId16"/>
    <p:sldId id="307" r:id="rId17"/>
    <p:sldId id="308" r:id="rId18"/>
    <p:sldId id="309" r:id="rId19"/>
    <p:sldId id="310" r:id="rId20"/>
    <p:sldId id="313" r:id="rId21"/>
    <p:sldId id="314" r:id="rId22"/>
    <p:sldId id="315" r:id="rId23"/>
    <p:sldId id="316" r:id="rId24"/>
    <p:sldId id="317" r:id="rId25"/>
    <p:sldId id="318" r:id="rId26"/>
    <p:sldId id="321" r:id="rId27"/>
    <p:sldId id="319" r:id="rId28"/>
    <p:sldId id="320" r:id="rId29"/>
    <p:sldId id="322" r:id="rId30"/>
    <p:sldId id="324" r:id="rId31"/>
    <p:sldId id="325" r:id="rId32"/>
    <p:sldId id="326" r:id="rId33"/>
    <p:sldId id="327" r:id="rId34"/>
    <p:sldId id="323" r:id="rId35"/>
    <p:sldId id="328" r:id="rId36"/>
    <p:sldId id="330" r:id="rId37"/>
    <p:sldId id="331" r:id="rId38"/>
    <p:sldId id="332" r:id="rId39"/>
    <p:sldId id="333" r:id="rId40"/>
    <p:sldId id="334" r:id="rId41"/>
    <p:sldId id="329" r:id="rId42"/>
    <p:sldId id="335" r:id="rId43"/>
    <p:sldId id="338" r:id="rId44"/>
    <p:sldId id="339" r:id="rId45"/>
    <p:sldId id="340" r:id="rId46"/>
    <p:sldId id="341" r:id="rId47"/>
    <p:sldId id="342" r:id="rId48"/>
    <p:sldId id="336" r:id="rId49"/>
    <p:sldId id="337" r:id="rId50"/>
    <p:sldId id="343" r:id="rId51"/>
    <p:sldId id="345" r:id="rId52"/>
    <p:sldId id="346" r:id="rId53"/>
    <p:sldId id="347" r:id="rId54"/>
    <p:sldId id="348" r:id="rId55"/>
    <p:sldId id="349" r:id="rId56"/>
    <p:sldId id="344" r:id="rId57"/>
    <p:sldId id="289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ish sharma" initials="ns" lastIdx="1" clrIdx="0">
    <p:extLst>
      <p:ext uri="{19B8F6BF-5375-455C-9EA6-DF929625EA0E}">
        <p15:presenceInfo xmlns:p15="http://schemas.microsoft.com/office/powerpoint/2012/main" userId="cc20ed5cd8d7b5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72" d="100"/>
          <a:sy n="72" d="100"/>
        </p:scale>
        <p:origin x="660" y="6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8/10/relationships/authors" Target="authors.xml"/><Relationship Id="rId5" Type="http://schemas.openxmlformats.org/officeDocument/2006/relationships/slide" Target="slides/slide1.xml"/><Relationship Id="rId61" Type="http://schemas.openxmlformats.org/officeDocument/2006/relationships/commentAuthors" Target="comment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0190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4148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59666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47887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66544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23518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61968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349214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37413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45418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47551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144019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51951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24970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973185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64342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78203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163328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220576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005839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9079797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21526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479752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02599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42877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89155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600112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0479671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295638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9939954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005579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6315487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8005452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544866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158848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998654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532443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875607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531389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67968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8626079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025784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4358626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0232796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68701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876974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9958155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950508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9897976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626737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881525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1184875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30" y="377474"/>
            <a:ext cx="9823998" cy="1325563"/>
          </a:xfrm>
        </p:spPr>
        <p:txBody>
          <a:bodyPr/>
          <a:lstStyle/>
          <a:p>
            <a:r>
              <a:rPr lang="en-US" dirty="0"/>
              <a:t>UPI Transaction Analysis – Business Understanding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630" y="2557273"/>
            <a:ext cx="4959822" cy="2007158"/>
          </a:xfrm>
        </p:spPr>
        <p:txBody>
          <a:bodyPr/>
          <a:lstStyle/>
          <a:p>
            <a:pPr algn="just"/>
            <a:r>
              <a:rPr lang="en-US" dirty="0"/>
              <a:t>UPI has made digital payments easy and fast in India.</a:t>
            </a:r>
            <a:br>
              <a:rPr lang="en-US" dirty="0"/>
            </a:br>
            <a:r>
              <a:rPr lang="en-US" dirty="0"/>
              <a:t>Millions of customers and merchants use it every day.</a:t>
            </a:r>
            <a:br>
              <a:rPr lang="en-US" dirty="0"/>
            </a:br>
            <a:r>
              <a:rPr lang="en-US" dirty="0"/>
              <a:t>My company handles large amounts of transaction data.</a:t>
            </a:r>
            <a:br>
              <a:rPr lang="en-US" dirty="0"/>
            </a:br>
            <a:r>
              <a:rPr lang="en-US" dirty="0"/>
              <a:t>With this growth, challenges like fraud, failed payments, and customer issues are increasing.</a:t>
            </a:r>
          </a:p>
          <a:p>
            <a:pPr algn="just"/>
            <a:br>
              <a:rPr lang="en-US" dirty="0"/>
            </a:br>
            <a:r>
              <a:rPr lang="en-US" dirty="0"/>
              <a:t>The goal of this project is to use data analytics to find insights and improve business performance.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30" y="927144"/>
            <a:ext cx="5875635" cy="732796"/>
          </a:xfrm>
        </p:spPr>
        <p:txBody>
          <a:bodyPr/>
          <a:lstStyle/>
          <a:p>
            <a:r>
              <a:rPr lang="en-IN" dirty="0"/>
              <a:t>Key Business Challenges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4632" y="2439957"/>
            <a:ext cx="5989983" cy="1978085"/>
          </a:xfrm>
        </p:spPr>
        <p:txBody>
          <a:bodyPr/>
          <a:lstStyle/>
          <a:p>
            <a:r>
              <a:rPr lang="en-US" sz="2000" dirty="0"/>
              <a:t>1. Rising fraud risk in online transactions.</a:t>
            </a:r>
            <a:br>
              <a:rPr lang="en-US" sz="2000" dirty="0"/>
            </a:br>
            <a:r>
              <a:rPr lang="en-US" sz="2000" dirty="0"/>
              <a:t>2. Failed transactions due to technical or user issues.</a:t>
            </a:r>
            <a:br>
              <a:rPr lang="en-US" sz="2000" dirty="0"/>
            </a:br>
            <a:r>
              <a:rPr lang="en-US" sz="2000" dirty="0"/>
              <a:t>3. Customer churn and low satisfaction levels.</a:t>
            </a:r>
            <a:br>
              <a:rPr lang="en-US" sz="2000" dirty="0"/>
            </a:br>
            <a:r>
              <a:rPr lang="en-US" sz="2000" dirty="0"/>
              <a:t>4. Low merchant engagement in some regions.</a:t>
            </a:r>
            <a:br>
              <a:rPr lang="en-US" sz="2000" dirty="0"/>
            </a:br>
            <a:r>
              <a:rPr lang="en-US" sz="2000" dirty="0"/>
              <a:t>5. Device-related risks (rooted or outdated devices)</a:t>
            </a:r>
            <a:br>
              <a:rPr lang="en-US" sz="2000" dirty="0"/>
            </a:br>
            <a:r>
              <a:rPr lang="en-US" sz="2000" dirty="0"/>
              <a:t>6. Need for better data-driven decisions.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887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257" y="743872"/>
            <a:ext cx="7176900" cy="732796"/>
          </a:xfrm>
        </p:spPr>
        <p:txBody>
          <a:bodyPr/>
          <a:lstStyle/>
          <a:p>
            <a:r>
              <a:rPr lang="en-US" dirty="0"/>
              <a:t>Analytical Goals of the Project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9149" y="2778123"/>
            <a:ext cx="6616195" cy="1845853"/>
          </a:xfrm>
        </p:spPr>
        <p:txBody>
          <a:bodyPr/>
          <a:lstStyle/>
          <a:p>
            <a:r>
              <a:rPr lang="en-US" sz="2000" dirty="0"/>
              <a:t>1. Analyze transaction, fraud, and customer feedback data.</a:t>
            </a:r>
            <a:br>
              <a:rPr lang="en-US" sz="2000" dirty="0"/>
            </a:br>
            <a:r>
              <a:rPr lang="en-US" sz="2000" dirty="0"/>
              <a:t>2. Identify high-risk customers, merchants, and devices.</a:t>
            </a:r>
            <a:br>
              <a:rPr lang="en-US" sz="2000" dirty="0"/>
            </a:br>
            <a:r>
              <a:rPr lang="en-US" sz="2000" dirty="0"/>
              <a:t>3. Measure business performance using KPIs.</a:t>
            </a:r>
            <a:br>
              <a:rPr lang="en-US" sz="2000" dirty="0"/>
            </a:br>
            <a:r>
              <a:rPr lang="en-US" sz="2000" dirty="0"/>
              <a:t>4. Build dashboards for real-time decision making.</a:t>
            </a:r>
            <a:br>
              <a:rPr lang="en-US" sz="2000" dirty="0"/>
            </a:br>
            <a:r>
              <a:rPr lang="en-US" sz="2000" dirty="0"/>
              <a:t>5. Provide actionable recommendations for improvement.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0282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631619"/>
            <a:ext cx="7176900" cy="732796"/>
          </a:xfrm>
        </p:spPr>
        <p:txBody>
          <a:bodyPr/>
          <a:lstStyle/>
          <a:p>
            <a:r>
              <a:rPr lang="en-IN" dirty="0"/>
              <a:t>Important KPIs to Measure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2673" y="2051002"/>
            <a:ext cx="7176900" cy="1956155"/>
          </a:xfrm>
        </p:spPr>
        <p:txBody>
          <a:bodyPr/>
          <a:lstStyle/>
          <a:p>
            <a:r>
              <a:rPr lang="en-US" sz="2000" dirty="0"/>
              <a:t>1. Transaction Volume – Total number of transactions</a:t>
            </a:r>
            <a:br>
              <a:rPr lang="en-US" sz="2000" dirty="0"/>
            </a:br>
            <a:r>
              <a:rPr lang="en-US" sz="2000" dirty="0"/>
              <a:t>2. Transaction Failure Rate – Percentage of failed payments</a:t>
            </a:r>
            <a:br>
              <a:rPr lang="en-US" sz="2000" dirty="0"/>
            </a:br>
            <a:r>
              <a:rPr lang="en-US" sz="2000" dirty="0"/>
              <a:t>3. Fraud Detection Rate – Percentage of fraudulent transactions</a:t>
            </a:r>
            <a:br>
              <a:rPr lang="en-US" sz="2000" dirty="0"/>
            </a:br>
            <a:r>
              <a:rPr lang="en-US" sz="2000" dirty="0"/>
              <a:t>4. Customer Retention – Returning customers on the platform</a:t>
            </a:r>
            <a:br>
              <a:rPr lang="en-US" sz="2000" dirty="0"/>
            </a:br>
            <a:r>
              <a:rPr lang="en-US" sz="2000" dirty="0"/>
              <a:t>5. Merchant Activity – Number of active merchants</a:t>
            </a:r>
            <a:br>
              <a:rPr lang="en-US" sz="2000" dirty="0"/>
            </a:br>
            <a:r>
              <a:rPr lang="en-US" sz="2000" dirty="0"/>
              <a:t>6. Device Risk – Fraud rate based on device type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523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631619"/>
            <a:ext cx="7176900" cy="732796"/>
          </a:xfrm>
        </p:spPr>
        <p:txBody>
          <a:bodyPr/>
          <a:lstStyle/>
          <a:p>
            <a:r>
              <a:rPr lang="en-IN" dirty="0"/>
              <a:t>Hypotheses and Next Step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168" y="2173403"/>
            <a:ext cx="7176900" cy="2774898"/>
          </a:xfrm>
        </p:spPr>
        <p:txBody>
          <a:bodyPr/>
          <a:lstStyle/>
          <a:p>
            <a:r>
              <a:rPr lang="en-US" sz="2000" b="1" dirty="0"/>
              <a:t>Hypotheses:</a:t>
            </a:r>
            <a:br>
              <a:rPr lang="en-US" sz="2000" dirty="0"/>
            </a:br>
            <a:r>
              <a:rPr lang="en-US" sz="2000" dirty="0"/>
              <a:t>1. Rooted Android devices may have higher fraud rates.</a:t>
            </a:r>
            <a:br>
              <a:rPr lang="en-US" sz="2000" dirty="0"/>
            </a:br>
            <a:r>
              <a:rPr lang="en-US" sz="2000" dirty="0"/>
              <a:t>2. Metro region merchants have fewer failed transactions.</a:t>
            </a:r>
            <a:br>
              <a:rPr lang="en-US" sz="2000" dirty="0"/>
            </a:br>
            <a:r>
              <a:rPr lang="en-US" sz="2000" dirty="0"/>
              <a:t>3. Low satisfaction customers are more likely to churn.</a:t>
            </a:r>
            <a:br>
              <a:rPr lang="en-US" sz="2000" dirty="0"/>
            </a:br>
            <a:r>
              <a:rPr lang="en-US" sz="2000" dirty="0"/>
              <a:t>4. High-value transactions may have higher fraud chances.</a:t>
            </a:r>
          </a:p>
          <a:p>
            <a:r>
              <a:rPr lang="en-US" sz="2000" b="1" dirty="0"/>
              <a:t>Next Step:</a:t>
            </a:r>
            <a:br>
              <a:rPr lang="en-US" sz="2000" dirty="0"/>
            </a:br>
            <a:r>
              <a:rPr lang="en-US" sz="2000" dirty="0"/>
              <a:t>1. Validate and clean the data in Excel and SQL.</a:t>
            </a:r>
            <a:br>
              <a:rPr lang="en-US" sz="2000" dirty="0"/>
            </a:br>
            <a:r>
              <a:rPr lang="en-US" sz="2000" dirty="0"/>
              <a:t>2. Check missing values, duplicates, and foreign key links.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262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631619"/>
            <a:ext cx="7176900" cy="732796"/>
          </a:xfrm>
        </p:spPr>
        <p:txBody>
          <a:bodyPr/>
          <a:lstStyle/>
          <a:p>
            <a:r>
              <a:rPr lang="en-IN" dirty="0"/>
              <a:t>Data Validation Using Excel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4632" y="1911649"/>
            <a:ext cx="5620568" cy="3034701"/>
          </a:xfrm>
        </p:spPr>
        <p:txBody>
          <a:bodyPr/>
          <a:lstStyle/>
          <a:p>
            <a:r>
              <a:rPr lang="en-US" sz="2000" dirty="0"/>
              <a:t>The goal of this step is to check the quality and accuracy of the data before analysis.</a:t>
            </a:r>
          </a:p>
          <a:p>
            <a:br>
              <a:rPr lang="en-US" sz="2000" dirty="0"/>
            </a:br>
            <a:r>
              <a:rPr lang="en-US" sz="2000" dirty="0"/>
              <a:t>I verified relationships between tables, found missing or invalid data, and created a data quality log to ensure clean data for SQL and Python analysis.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4923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397" y="893741"/>
            <a:ext cx="8420829" cy="732796"/>
          </a:xfrm>
        </p:spPr>
        <p:txBody>
          <a:bodyPr/>
          <a:lstStyle/>
          <a:p>
            <a:r>
              <a:rPr lang="en-IN" dirty="0"/>
              <a:t>Verifying Data Relationships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4631" y="2076329"/>
            <a:ext cx="5620568" cy="2969046"/>
          </a:xfrm>
        </p:spPr>
        <p:txBody>
          <a:bodyPr/>
          <a:lstStyle/>
          <a:p>
            <a:r>
              <a:rPr lang="en-US" sz="2000" dirty="0"/>
              <a:t>1. Checked that all </a:t>
            </a:r>
            <a:r>
              <a:rPr lang="en-US" sz="2000" dirty="0" err="1"/>
              <a:t>customer_id</a:t>
            </a:r>
            <a:r>
              <a:rPr lang="en-US" sz="2000" dirty="0"/>
              <a:t> values in other tables exist in </a:t>
            </a:r>
            <a:r>
              <a:rPr lang="en-US" sz="2000" dirty="0" err="1"/>
              <a:t>customer_master</a:t>
            </a:r>
            <a:r>
              <a:rPr lang="en-US" sz="2000" dirty="0"/>
              <a:t>.</a:t>
            </a:r>
          </a:p>
          <a:p>
            <a:r>
              <a:rPr lang="en-US" sz="2000" dirty="0"/>
              <a:t>2. Verified </a:t>
            </a:r>
            <a:r>
              <a:rPr lang="en-US" sz="2000" dirty="0" err="1"/>
              <a:t>merchant_id</a:t>
            </a:r>
            <a:r>
              <a:rPr lang="en-US" sz="2000" dirty="0"/>
              <a:t> in transactions match records in </a:t>
            </a:r>
            <a:r>
              <a:rPr lang="en-US" sz="2000" dirty="0" err="1"/>
              <a:t>merchant_info</a:t>
            </a:r>
            <a:r>
              <a:rPr lang="en-US" sz="2000" dirty="0"/>
              <a:t>.</a:t>
            </a:r>
          </a:p>
          <a:p>
            <a:r>
              <a:rPr lang="en-US" sz="2000" dirty="0"/>
              <a:t>3. Ensured </a:t>
            </a:r>
            <a:r>
              <a:rPr lang="en-US" sz="2000" dirty="0" err="1"/>
              <a:t>upi_id</a:t>
            </a:r>
            <a:r>
              <a:rPr lang="en-US" sz="2000" dirty="0"/>
              <a:t> and </a:t>
            </a:r>
            <a:r>
              <a:rPr lang="en-US" sz="2000" dirty="0" err="1"/>
              <a:t>device_id</a:t>
            </a:r>
            <a:r>
              <a:rPr lang="en-US" sz="2000" dirty="0"/>
              <a:t> in transactions exist in their respective tables.</a:t>
            </a:r>
          </a:p>
          <a:p>
            <a:r>
              <a:rPr lang="en-US" sz="2000" dirty="0"/>
              <a:t>4. Confirmed </a:t>
            </a:r>
            <a:r>
              <a:rPr lang="en-US" sz="2000" dirty="0" err="1"/>
              <a:t>transaction_id</a:t>
            </a:r>
            <a:r>
              <a:rPr lang="en-US" sz="2000" dirty="0"/>
              <a:t> in </a:t>
            </a:r>
            <a:r>
              <a:rPr lang="en-US" sz="2000" dirty="0" err="1"/>
              <a:t>fraud_alert_history</a:t>
            </a:r>
            <a:r>
              <a:rPr lang="en-US" sz="2000" dirty="0"/>
              <a:t> matches the transaction table.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91549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47" y="274955"/>
            <a:ext cx="9724418" cy="732796"/>
          </a:xfrm>
        </p:spPr>
        <p:txBody>
          <a:bodyPr/>
          <a:lstStyle/>
          <a:p>
            <a:r>
              <a:rPr lang="en-IN" dirty="0"/>
              <a:t>Data Validation – Blank &amp; Missing Fields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01062" y="1118153"/>
            <a:ext cx="2506306" cy="7310230"/>
          </a:xfrm>
        </p:spPr>
        <p:txBody>
          <a:bodyPr/>
          <a:lstStyle/>
          <a:p>
            <a:r>
              <a:rPr lang="en-US" sz="2000" dirty="0"/>
              <a:t>1. Conditional Formatting used to highlight missing or blank fields.</a:t>
            </a:r>
          </a:p>
          <a:p>
            <a:r>
              <a:rPr lang="en-US" sz="2000" dirty="0"/>
              <a:t>2. Verified blank </a:t>
            </a:r>
            <a:r>
              <a:rPr lang="en-US" sz="2000" dirty="0" err="1"/>
              <a:t>merchant_id</a:t>
            </a:r>
            <a:r>
              <a:rPr lang="en-US" sz="2000" dirty="0"/>
              <a:t> values (expected for peer-to-peer transactions) and blank </a:t>
            </a:r>
            <a:r>
              <a:rPr lang="en-US" sz="2000" dirty="0" err="1"/>
              <a:t>failure_reason</a:t>
            </a:r>
            <a:r>
              <a:rPr lang="en-US" sz="2000" dirty="0"/>
              <a:t> fields (expected for successful transactions).</a:t>
            </a:r>
          </a:p>
          <a:p>
            <a:r>
              <a:rPr lang="en-US" sz="2000" dirty="0"/>
              <a:t>3. All blanks were reviewed and found to be valid.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E462F3-47BA-4E49-AB41-FBB034C18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8153"/>
            <a:ext cx="8362950" cy="3429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305316-5037-47EC-B747-F8ABB4DAB3CA}"/>
              </a:ext>
            </a:extLst>
          </p:cNvPr>
          <p:cNvSpPr txBox="1"/>
          <p:nvPr/>
        </p:nvSpPr>
        <p:spPr>
          <a:xfrm>
            <a:off x="630406" y="4838014"/>
            <a:ext cx="615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Blank fields identified using Excel Conditional Formatting.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659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47" y="274955"/>
            <a:ext cx="9724418" cy="732796"/>
          </a:xfrm>
        </p:spPr>
        <p:txBody>
          <a:bodyPr/>
          <a:lstStyle/>
          <a:p>
            <a:r>
              <a:rPr lang="en-IN" dirty="0"/>
              <a:t>Data Cleaning: Timestamp Correction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03935" y="1447106"/>
            <a:ext cx="5519530" cy="3177903"/>
          </a:xfrm>
        </p:spPr>
        <p:txBody>
          <a:bodyPr/>
          <a:lstStyle/>
          <a:p>
            <a:r>
              <a:rPr lang="en-US" sz="2000" dirty="0"/>
              <a:t>1. Original timestamp included microseconds, not readable in Excel.</a:t>
            </a:r>
          </a:p>
          <a:p>
            <a:endParaRPr lang="en-US" sz="2000" dirty="0"/>
          </a:p>
          <a:p>
            <a:r>
              <a:rPr lang="en-US" sz="2000" dirty="0"/>
              <a:t>2. Cleaned using formula =LEFT(D2,19) to remove microseconds.</a:t>
            </a:r>
          </a:p>
          <a:p>
            <a:endParaRPr lang="en-US" sz="2000" dirty="0"/>
          </a:p>
          <a:p>
            <a:r>
              <a:rPr lang="en-US" sz="2000" dirty="0"/>
              <a:t>3. Final format standardized to </a:t>
            </a:r>
            <a:r>
              <a:rPr lang="en-US" sz="2000" dirty="0" err="1"/>
              <a:t>yyyy</a:t>
            </a:r>
            <a:r>
              <a:rPr lang="en-US" sz="2000" dirty="0"/>
              <a:t>-mm-dd </a:t>
            </a:r>
            <a:r>
              <a:rPr lang="en-US" sz="2000" dirty="0" err="1"/>
              <a:t>hh:mm:ss</a:t>
            </a:r>
            <a:r>
              <a:rPr lang="en-US" sz="2000" dirty="0"/>
              <a:t> for consistency and readability.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731547" y="6400482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45184-309A-41E6-AE95-AE9E2833F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47" y="976590"/>
            <a:ext cx="4114800" cy="52413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317518-B691-4E76-9118-FA5DE2C8BBCB}"/>
              </a:ext>
            </a:extLst>
          </p:cNvPr>
          <p:cNvSpPr txBox="1"/>
          <p:nvPr/>
        </p:nvSpPr>
        <p:spPr>
          <a:xfrm>
            <a:off x="2972517" y="6396275"/>
            <a:ext cx="6718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Timestamp cleaned for Excel compatibility and format consistency.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2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397" y="893741"/>
            <a:ext cx="8487090" cy="732796"/>
          </a:xfrm>
        </p:spPr>
        <p:txBody>
          <a:bodyPr/>
          <a:lstStyle/>
          <a:p>
            <a:r>
              <a:rPr lang="en-IN" dirty="0"/>
              <a:t>Cleaning and Standardizing Data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4631" y="2076329"/>
            <a:ext cx="5620568" cy="2969046"/>
          </a:xfrm>
        </p:spPr>
        <p:txBody>
          <a:bodyPr/>
          <a:lstStyle/>
          <a:p>
            <a:r>
              <a:rPr lang="en-US" sz="2000" dirty="0"/>
              <a:t>1. Corrected text errors and standardized categorical values.</a:t>
            </a:r>
          </a:p>
          <a:p>
            <a:r>
              <a:rPr lang="en-US" sz="2000" dirty="0"/>
              <a:t>2. Formatted all date columns consistently.</a:t>
            </a:r>
          </a:p>
          <a:p>
            <a:r>
              <a:rPr lang="en-US" sz="2000" dirty="0"/>
              <a:t>3. Added a column </a:t>
            </a:r>
            <a:r>
              <a:rPr lang="en-US" sz="2000" dirty="0" err="1"/>
              <a:t>validation_status</a:t>
            </a:r>
            <a:r>
              <a:rPr lang="en-US" sz="2000" dirty="0"/>
              <a:t> to tag rows needing review.</a:t>
            </a:r>
          </a:p>
          <a:p>
            <a:r>
              <a:rPr lang="en-US" sz="2000" dirty="0"/>
              <a:t>4. Did not delete missing data — flagged it for further analysis.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1515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08" y="428624"/>
            <a:ext cx="8487090" cy="732796"/>
          </a:xfrm>
        </p:spPr>
        <p:txBody>
          <a:bodyPr/>
          <a:lstStyle/>
          <a:p>
            <a:r>
              <a:rPr lang="en-IN" dirty="0"/>
              <a:t>Data Quality Log Summary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2108" y="1811285"/>
            <a:ext cx="7590252" cy="3887931"/>
          </a:xfrm>
        </p:spPr>
        <p:txBody>
          <a:bodyPr/>
          <a:lstStyle/>
          <a:p>
            <a:r>
              <a:rPr lang="en-US" sz="2000" dirty="0"/>
              <a:t>Created a separate worksheet named </a:t>
            </a:r>
            <a:r>
              <a:rPr lang="en-US" sz="2000" dirty="0" err="1"/>
              <a:t>Data_Quality_Log</a:t>
            </a:r>
            <a:r>
              <a:rPr lang="en-US" sz="2000" dirty="0"/>
              <a:t> to record:</a:t>
            </a:r>
          </a:p>
          <a:p>
            <a:pPr marL="540000" algn="just"/>
            <a:endParaRPr lang="en-US" sz="2000" dirty="0"/>
          </a:p>
          <a:p>
            <a:r>
              <a:rPr lang="en-US" sz="2000" dirty="0"/>
              <a:t>1. Column name with issue</a:t>
            </a:r>
          </a:p>
          <a:p>
            <a:r>
              <a:rPr lang="en-US" sz="2000" dirty="0"/>
              <a:t>2. Type of inconsistency</a:t>
            </a:r>
          </a:p>
          <a:p>
            <a:r>
              <a:rPr lang="en-US" sz="2000" dirty="0"/>
              <a:t>3. Suggested cleaning action</a:t>
            </a:r>
          </a:p>
          <a:p>
            <a:r>
              <a:rPr lang="en-US" sz="2000" dirty="0"/>
              <a:t>4. Affected rows percentage</a:t>
            </a:r>
          </a:p>
          <a:p>
            <a:endParaRPr lang="en-US" sz="2000" dirty="0"/>
          </a:p>
          <a:p>
            <a:r>
              <a:rPr lang="en-US" sz="2000" dirty="0"/>
              <a:t>This helped track data quality issues systematically.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5641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87" y="706537"/>
            <a:ext cx="8487090" cy="732796"/>
          </a:xfrm>
        </p:spPr>
        <p:txBody>
          <a:bodyPr/>
          <a:lstStyle/>
          <a:p>
            <a:r>
              <a:rPr lang="en-IN" dirty="0"/>
              <a:t>Step 2 Summary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2108" y="1983524"/>
            <a:ext cx="5743892" cy="3887931"/>
          </a:xfrm>
        </p:spPr>
        <p:txBody>
          <a:bodyPr/>
          <a:lstStyle/>
          <a:p>
            <a:r>
              <a:rPr lang="en-US" sz="2000" dirty="0"/>
              <a:t>Data validation ensured that all datasets are consistent and accurate.</a:t>
            </a:r>
          </a:p>
          <a:p>
            <a:br>
              <a:rPr lang="en-US" sz="2000" dirty="0"/>
            </a:br>
            <a:r>
              <a:rPr lang="en-US" sz="2000" dirty="0"/>
              <a:t>After this step, the data is ready for SQL ingestion and further analysis in Python and Power BI.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9572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6537"/>
            <a:ext cx="12191999" cy="732796"/>
          </a:xfrm>
        </p:spPr>
        <p:txBody>
          <a:bodyPr/>
          <a:lstStyle/>
          <a:p>
            <a:r>
              <a:rPr lang="en-US" sz="4200" dirty="0"/>
              <a:t>Step 3: Database Design and Table Creation (SQL DDL)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2108" y="1983524"/>
            <a:ext cx="5743892" cy="3887931"/>
          </a:xfrm>
        </p:spPr>
        <p:txBody>
          <a:bodyPr/>
          <a:lstStyle/>
          <a:p>
            <a:r>
              <a:rPr lang="en-US" sz="2000" dirty="0"/>
              <a:t>Objective:</a:t>
            </a:r>
          </a:p>
          <a:p>
            <a:endParaRPr lang="en-US" sz="2000" dirty="0"/>
          </a:p>
          <a:p>
            <a:r>
              <a:rPr lang="en-US" sz="2000" dirty="0"/>
              <a:t>1. To design and structure the relational database schema for UPI data.</a:t>
            </a:r>
          </a:p>
          <a:p>
            <a:r>
              <a:rPr lang="en-US" sz="2000" dirty="0"/>
              <a:t>2. Create database tables with primary keys in MySQL.</a:t>
            </a:r>
          </a:p>
          <a:p>
            <a:r>
              <a:rPr lang="en-US" sz="2000" dirty="0"/>
              <a:t>3. Make sure all datasets follow the data dictionary structure for easy import.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30357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162" y="-33215"/>
            <a:ext cx="6334539" cy="732796"/>
          </a:xfrm>
        </p:spPr>
        <p:txBody>
          <a:bodyPr/>
          <a:lstStyle/>
          <a:p>
            <a:r>
              <a:rPr lang="en-IN" dirty="0"/>
              <a:t>Database Setup in MySQL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0302" y="1093273"/>
            <a:ext cx="3441698" cy="2127005"/>
          </a:xfrm>
        </p:spPr>
        <p:txBody>
          <a:bodyPr/>
          <a:lstStyle/>
          <a:p>
            <a:r>
              <a:rPr lang="en-US" sz="2000" dirty="0"/>
              <a:t>Created a new database named </a:t>
            </a:r>
            <a:r>
              <a:rPr lang="en-US" sz="2000" dirty="0" err="1"/>
              <a:t>upi_project</a:t>
            </a:r>
            <a:r>
              <a:rPr lang="en-US" sz="2000" dirty="0"/>
              <a:t> using SQL commands.</a:t>
            </a:r>
          </a:p>
          <a:p>
            <a:r>
              <a:rPr lang="en-US" sz="2000" dirty="0"/>
              <a:t>Verified creation using SHOW DATABASES; command.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2DD374-B947-416B-B6B4-270A98D7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720"/>
            <a:ext cx="8429625" cy="3657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0EDAEB-E4C4-446E-8A88-6F4AE258F47E}"/>
              </a:ext>
            </a:extLst>
          </p:cNvPr>
          <p:cNvSpPr txBox="1"/>
          <p:nvPr/>
        </p:nvSpPr>
        <p:spPr>
          <a:xfrm>
            <a:off x="1835426" y="4460220"/>
            <a:ext cx="613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Database successfully created in MySQL environment.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16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162" y="-33215"/>
            <a:ext cx="6334539" cy="732796"/>
          </a:xfrm>
        </p:spPr>
        <p:txBody>
          <a:bodyPr/>
          <a:lstStyle/>
          <a:p>
            <a:r>
              <a:rPr lang="en-US" dirty="0"/>
              <a:t>Table Creation Using SQL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0302" y="1093273"/>
            <a:ext cx="3441698" cy="2127005"/>
          </a:xfrm>
        </p:spPr>
        <p:txBody>
          <a:bodyPr/>
          <a:lstStyle/>
          <a:p>
            <a:r>
              <a:rPr lang="en-US" sz="2000" dirty="0"/>
              <a:t>All 7 tables created using SQL DDL scripts.</a:t>
            </a:r>
          </a:p>
          <a:p>
            <a:br>
              <a:rPr lang="en-US" sz="2000" dirty="0"/>
            </a:br>
            <a:r>
              <a:rPr lang="en-US" sz="2000" dirty="0"/>
              <a:t>Set up proper data types and primary keys for all tables. Didn't use foreign keys to make CSV import easier.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57F2DC-B8D4-4E6D-AA0D-35456BDA7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9581"/>
            <a:ext cx="7515225" cy="39052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75707F-7E64-43A0-A722-C265FB9526ED}"/>
              </a:ext>
            </a:extLst>
          </p:cNvPr>
          <p:cNvSpPr txBox="1"/>
          <p:nvPr/>
        </p:nvSpPr>
        <p:spPr>
          <a:xfrm>
            <a:off x="484632" y="48573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required tables created successfully in MySQL database.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12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162" y="-33215"/>
            <a:ext cx="6334539" cy="732796"/>
          </a:xfrm>
        </p:spPr>
        <p:txBody>
          <a:bodyPr/>
          <a:lstStyle/>
          <a:p>
            <a:r>
              <a:rPr lang="en-IN" dirty="0"/>
              <a:t>Table Schema Validation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16348" y="699581"/>
            <a:ext cx="3710609" cy="2511318"/>
          </a:xfrm>
        </p:spPr>
        <p:txBody>
          <a:bodyPr/>
          <a:lstStyle/>
          <a:p>
            <a:r>
              <a:rPr lang="en-US" sz="2000" dirty="0"/>
              <a:t>1. Checked table structure using the SQL command.</a:t>
            </a:r>
          </a:p>
          <a:p>
            <a:r>
              <a:rPr lang="en-US" sz="2000" dirty="0"/>
              <a:t>2. DESCRIBE </a:t>
            </a:r>
            <a:r>
              <a:rPr lang="en-US" sz="2000" dirty="0" err="1"/>
              <a:t>customer_master</a:t>
            </a:r>
            <a:r>
              <a:rPr lang="en-US" sz="2000" dirty="0"/>
              <a:t>;.</a:t>
            </a:r>
          </a:p>
          <a:p>
            <a:r>
              <a:rPr lang="en-US" sz="2000" dirty="0"/>
              <a:t>3. The output shows correct column names, data types, and primary key setup.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665092" y="4942481"/>
            <a:ext cx="6663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 structure checked - data types and primary keys are correct.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C9842-F768-4356-BA25-53C3B62A4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9288"/>
            <a:ext cx="751522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7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75664" cy="732796"/>
          </a:xfrm>
        </p:spPr>
        <p:txBody>
          <a:bodyPr/>
          <a:lstStyle/>
          <a:p>
            <a:r>
              <a:rPr lang="en-IN" dirty="0"/>
              <a:t>Entity Relationship (ER) Diagram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4949" y="454684"/>
            <a:ext cx="3759791" cy="5948631"/>
          </a:xfrm>
        </p:spPr>
        <p:txBody>
          <a:bodyPr/>
          <a:lstStyle/>
          <a:p>
            <a:r>
              <a:rPr lang="en-US" sz="2000" dirty="0"/>
              <a:t>1. This ER diagram shows the logical structure of all seven UPI data tables in MySQL.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2. It helps to understand how customers, devices, UPI accounts, merchants, and transactions are linked for analysis.</a:t>
            </a:r>
          </a:p>
          <a:p>
            <a:r>
              <a:rPr lang="en-US" sz="2000" dirty="0"/>
              <a:t>3. Foreign keys were not added in the database to make CSV import easier and avoid errors.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4. These relationships are logical only - I'll use SQL joins to connect tables during analysis.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341659" y="6536289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53424" y="5594431"/>
            <a:ext cx="6917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ER diagram prepared in MySQL Workbench showing all seven tables </a:t>
            </a:r>
          </a:p>
          <a:p>
            <a:r>
              <a:rPr lang="en-US" dirty="0"/>
              <a:t>(logical structure without enforced foreign keys).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96AE0F-68D4-4DAE-8133-0C98340D4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238"/>
            <a:ext cx="839152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54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455" y="571571"/>
            <a:ext cx="8487090" cy="732796"/>
          </a:xfrm>
        </p:spPr>
        <p:txBody>
          <a:bodyPr/>
          <a:lstStyle/>
          <a:p>
            <a:r>
              <a:rPr lang="en-IN" dirty="0"/>
              <a:t>Summary of Step 3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-30642" y="1884661"/>
            <a:ext cx="7029353" cy="3887931"/>
          </a:xfrm>
        </p:spPr>
        <p:txBody>
          <a:bodyPr/>
          <a:lstStyle/>
          <a:p>
            <a:r>
              <a:rPr lang="en-US" sz="2000" dirty="0"/>
              <a:t>1. Designed and implemented UPI database schema in MySQL.</a:t>
            </a:r>
          </a:p>
          <a:p>
            <a:endParaRPr lang="en-US" sz="2000" dirty="0"/>
          </a:p>
          <a:p>
            <a:r>
              <a:rPr lang="en-US" sz="2000" dirty="0"/>
              <a:t>2. Created 7 tables with primary keys using SQL</a:t>
            </a:r>
            <a:r>
              <a:rPr lang="en-US" sz="2400" dirty="0"/>
              <a:t>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3. Checked all table structures and data types.</a:t>
            </a:r>
          </a:p>
          <a:p>
            <a:endParaRPr lang="en-US" sz="2000" dirty="0"/>
          </a:p>
          <a:p>
            <a:r>
              <a:rPr lang="en-US" sz="2000" dirty="0"/>
              <a:t>4. Database ready for data ingestion (Step 4).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6479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73" y="398314"/>
            <a:ext cx="12191999" cy="732796"/>
          </a:xfrm>
        </p:spPr>
        <p:txBody>
          <a:bodyPr/>
          <a:lstStyle/>
          <a:p>
            <a:r>
              <a:rPr lang="en-US" sz="4200" dirty="0"/>
              <a:t>Step 4: Data Import into MySQL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2108" y="1530736"/>
            <a:ext cx="5743892" cy="3887931"/>
          </a:xfrm>
        </p:spPr>
        <p:txBody>
          <a:bodyPr/>
          <a:lstStyle/>
          <a:p>
            <a:r>
              <a:rPr lang="en-US" sz="2000" dirty="0"/>
              <a:t>Objective:</a:t>
            </a:r>
          </a:p>
          <a:p>
            <a:endParaRPr lang="en-US" sz="2000" dirty="0"/>
          </a:p>
          <a:p>
            <a:r>
              <a:rPr lang="en-US" sz="2000" dirty="0"/>
              <a:t>1. Import all 7 CSV datasets into their respective MySQL tables.</a:t>
            </a:r>
          </a:p>
          <a:p>
            <a:r>
              <a:rPr lang="en-US" sz="2000" dirty="0"/>
              <a:t>2. Use MySQL Table Data Import Wizard for smooth data loading.</a:t>
            </a:r>
          </a:p>
          <a:p>
            <a:r>
              <a:rPr lang="en-US" sz="2000" dirty="0"/>
              <a:t>3. Verify that all records are imported correctly without errors.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6959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162" y="-33215"/>
            <a:ext cx="6334539" cy="732796"/>
          </a:xfrm>
        </p:spPr>
        <p:txBody>
          <a:bodyPr/>
          <a:lstStyle/>
          <a:p>
            <a:r>
              <a:rPr lang="en-IN" dirty="0"/>
              <a:t>Import Process Overview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16348" y="0"/>
            <a:ext cx="3710609" cy="6158419"/>
          </a:xfrm>
        </p:spPr>
        <p:txBody>
          <a:bodyPr/>
          <a:lstStyle/>
          <a:p>
            <a:r>
              <a:rPr lang="en-US" sz="2000" dirty="0"/>
              <a:t>Data Import Process</a:t>
            </a:r>
          </a:p>
          <a:p>
            <a:endParaRPr lang="en-US" sz="2000" dirty="0"/>
          </a:p>
          <a:p>
            <a:r>
              <a:rPr lang="en-US" sz="2000" dirty="0"/>
              <a:t>1. Used MySQL Workbench's Table Data Import Wizard.</a:t>
            </a:r>
          </a:p>
          <a:p>
            <a:endParaRPr lang="en-US" sz="2000" dirty="0"/>
          </a:p>
          <a:p>
            <a:r>
              <a:rPr lang="en-US" sz="2000" dirty="0"/>
              <a:t>2. Selected CSV files one by one for each table.</a:t>
            </a:r>
          </a:p>
          <a:p>
            <a:endParaRPr lang="en-US" sz="2000" dirty="0"/>
          </a:p>
          <a:p>
            <a:r>
              <a:rPr lang="en-US" sz="2000" dirty="0"/>
              <a:t>3. Mapped CSV columns to table columns automatically.</a:t>
            </a:r>
          </a:p>
          <a:p>
            <a:endParaRPr lang="en-US" sz="2000" dirty="0"/>
          </a:p>
          <a:p>
            <a:r>
              <a:rPr lang="en-US" sz="2000" dirty="0"/>
              <a:t>4. Handled data type conversions (True/False → 0/1)</a:t>
            </a:r>
          </a:p>
          <a:p>
            <a:endParaRPr lang="en-US" sz="2000" dirty="0"/>
          </a:p>
          <a:p>
            <a:r>
              <a:rPr lang="en-US" sz="2000" dirty="0"/>
              <a:t>5. Resolved NULL value issues during import.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138268" y="6483930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13C268-0C27-4686-B2B1-86017DFD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109"/>
            <a:ext cx="7937172" cy="59122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18F267-C916-47DA-A317-581DC9257643}"/>
              </a:ext>
            </a:extLst>
          </p:cNvPr>
          <p:cNvSpPr txBox="1"/>
          <p:nvPr/>
        </p:nvSpPr>
        <p:spPr>
          <a:xfrm>
            <a:off x="40219" y="4379241"/>
            <a:ext cx="7951305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/>
              <a:t>Used MySQL Workbench's Table Data Import Wizard to load CSV files.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/>
              <a:t>The wizard automatically mapped columns and handled data type conversions.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/>
              <a:t>Example: Successfully imported 100,000 transaction records.</a:t>
            </a: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471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265" y="0"/>
            <a:ext cx="6334539" cy="732796"/>
          </a:xfrm>
        </p:spPr>
        <p:txBody>
          <a:bodyPr/>
          <a:lstStyle/>
          <a:p>
            <a:r>
              <a:rPr lang="en-IN" dirty="0"/>
              <a:t>Datasets Imported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48870" y="424626"/>
            <a:ext cx="3710609" cy="6158419"/>
          </a:xfrm>
        </p:spPr>
        <p:txBody>
          <a:bodyPr/>
          <a:lstStyle/>
          <a:p>
            <a:r>
              <a:rPr lang="en-US" sz="2000" b="1" dirty="0"/>
              <a:t>All 7 Datasets Successfully Imported</a:t>
            </a:r>
          </a:p>
          <a:p>
            <a:r>
              <a:rPr lang="en-US" sz="2000" dirty="0"/>
              <a:t>1. Customer Master - [10,000 rows]</a:t>
            </a:r>
          </a:p>
          <a:p>
            <a:r>
              <a:rPr lang="en-US" sz="2000" dirty="0"/>
              <a:t>2. Device Info - [12,000 rows]  </a:t>
            </a:r>
          </a:p>
          <a:p>
            <a:r>
              <a:rPr lang="en-US" sz="2000" dirty="0"/>
              <a:t>3. UPI Account Details - [12,000 rows]</a:t>
            </a:r>
          </a:p>
          <a:p>
            <a:r>
              <a:rPr lang="en-US" sz="2000" dirty="0"/>
              <a:t>4. Merchant Info - [500 rows]</a:t>
            </a:r>
          </a:p>
          <a:p>
            <a:r>
              <a:rPr lang="en-US" sz="2000" dirty="0"/>
              <a:t>5. UPI Transaction History - [100,000 rows]</a:t>
            </a:r>
          </a:p>
          <a:p>
            <a:r>
              <a:rPr lang="en-US" sz="2000" dirty="0"/>
              <a:t>6. Fraud Alert History - [2,000 rows]</a:t>
            </a:r>
          </a:p>
          <a:p>
            <a:r>
              <a:rPr lang="en-US" sz="2000" dirty="0"/>
              <a:t>7. Customer Feedback Surveys - [4000 rows]</a:t>
            </a:r>
          </a:p>
          <a:p>
            <a:r>
              <a:rPr lang="en-US" sz="2000" b="1" dirty="0"/>
              <a:t>Total: [140,500] records imported successfully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109212" y="6495525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5544393"/>
            <a:ext cx="6663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datasets imported completely. Total: [140,500] records across 7 tables loaded into the database successfully.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9D79A2-5D13-49F3-A69F-247FBE381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5289"/>
            <a:ext cx="8222738" cy="451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6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340" y="-24489"/>
            <a:ext cx="6334539" cy="732796"/>
          </a:xfrm>
        </p:spPr>
        <p:txBody>
          <a:bodyPr/>
          <a:lstStyle/>
          <a:p>
            <a:r>
              <a:rPr lang="en-IN" dirty="0"/>
              <a:t>Data Verification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48870" y="589038"/>
            <a:ext cx="3710609" cy="6158419"/>
          </a:xfrm>
        </p:spPr>
        <p:txBody>
          <a:bodyPr/>
          <a:lstStyle/>
          <a:p>
            <a:r>
              <a:rPr lang="en-US" sz="2000" b="1" dirty="0"/>
              <a:t>Data Validation After Import</a:t>
            </a:r>
          </a:p>
          <a:p>
            <a:endParaRPr lang="en-US" sz="2000" dirty="0"/>
          </a:p>
          <a:p>
            <a:r>
              <a:rPr lang="en-US" sz="2000" dirty="0"/>
              <a:t>Verified imported data using SQL queries:</a:t>
            </a:r>
          </a:p>
          <a:p>
            <a:r>
              <a:rPr lang="en-US" sz="2000" dirty="0"/>
              <a:t>1. Checked total row counts match CSV files</a:t>
            </a:r>
          </a:p>
          <a:p>
            <a:r>
              <a:rPr lang="en-US" sz="2000" dirty="0"/>
              <a:t>2. Verified primary keys are unique (no duplicates)</a:t>
            </a:r>
          </a:p>
          <a:p>
            <a:r>
              <a:rPr lang="en-US" sz="2000" dirty="0"/>
              <a:t>3. Checked for NULL values in important columns</a:t>
            </a:r>
          </a:p>
          <a:p>
            <a:r>
              <a:rPr lang="en-US" sz="2000" dirty="0"/>
              <a:t>4. Confirmed data types are correct</a:t>
            </a:r>
          </a:p>
          <a:p>
            <a:r>
              <a:rPr lang="en-US" sz="2000" dirty="0"/>
              <a:t>All validation tests passed successfully.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-5620" y="5192761"/>
            <a:ext cx="8931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Sample data from transactions table showing correct column values and data types. </a:t>
            </a:r>
          </a:p>
          <a:p>
            <a:r>
              <a:rPr lang="en-US" dirty="0"/>
              <a:t>All fields imported properly without corruption.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A86A8F-9E63-4BBD-84DD-609675B372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0"/>
          <a:stretch/>
        </p:blipFill>
        <p:spPr>
          <a:xfrm>
            <a:off x="-5620" y="589038"/>
            <a:ext cx="8354490" cy="400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98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791"/>
            <a:ext cx="7805530" cy="732796"/>
          </a:xfrm>
        </p:spPr>
        <p:txBody>
          <a:bodyPr/>
          <a:lstStyle/>
          <a:p>
            <a:r>
              <a:rPr lang="en-US" sz="3600" dirty="0"/>
              <a:t>Relationship Validation Using SQL Joins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81391" y="569525"/>
            <a:ext cx="3710609" cy="5599027"/>
          </a:xfrm>
        </p:spPr>
        <p:txBody>
          <a:bodyPr/>
          <a:lstStyle/>
          <a:p>
            <a:r>
              <a:rPr lang="en-US" sz="2000" b="1" dirty="0"/>
              <a:t>Verified Logical Relationships</a:t>
            </a:r>
          </a:p>
          <a:p>
            <a:r>
              <a:rPr lang="en-US" sz="1800" dirty="0"/>
              <a:t>Tested data consistency between tables using SQL joins:</a:t>
            </a:r>
          </a:p>
          <a:p>
            <a:endParaRPr lang="en-US" sz="1800" dirty="0"/>
          </a:p>
          <a:p>
            <a:r>
              <a:rPr lang="en-US" sz="1800" dirty="0"/>
              <a:t>1. Customer-Transaction linkage </a:t>
            </a:r>
          </a:p>
          <a:p>
            <a:r>
              <a:rPr lang="en-US" sz="1800" dirty="0"/>
              <a:t>   verified.</a:t>
            </a:r>
          </a:p>
          <a:p>
            <a:r>
              <a:rPr lang="en-US" sz="1800" dirty="0"/>
              <a:t>2. Merchant-Transaction references validated.</a:t>
            </a:r>
          </a:p>
          <a:p>
            <a:r>
              <a:rPr lang="en-US" sz="1800" dirty="0"/>
              <a:t>3. Device-Transaction connections checked.</a:t>
            </a:r>
          </a:p>
          <a:p>
            <a:r>
              <a:rPr lang="en-US" sz="1800" dirty="0"/>
              <a:t>4. UPI Account associations confirmed.</a:t>
            </a:r>
          </a:p>
          <a:p>
            <a:endParaRPr lang="en-US" sz="1800" dirty="0"/>
          </a:p>
          <a:p>
            <a:r>
              <a:rPr lang="en-US" sz="1800" dirty="0"/>
              <a:t>All relationships are consistent - </a:t>
            </a:r>
          </a:p>
          <a:p>
            <a:r>
              <a:rPr lang="en-US" sz="1800" dirty="0"/>
              <a:t>no orphan or missing records found.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5583777"/>
            <a:ext cx="89319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Used SQL join queries to validate relationships between tables. </a:t>
            </a:r>
          </a:p>
          <a:p>
            <a:r>
              <a:rPr lang="en-US" sz="1600" dirty="0"/>
              <a:t>All customer, merchant, and device references are valid - data consistency confirmed.</a:t>
            </a: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48BD46-202D-4AAF-AEA8-E1BDD994B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935"/>
            <a:ext cx="8363861" cy="432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70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882" y="171945"/>
            <a:ext cx="12191999" cy="732796"/>
          </a:xfrm>
        </p:spPr>
        <p:txBody>
          <a:bodyPr/>
          <a:lstStyle/>
          <a:p>
            <a:r>
              <a:rPr lang="en-US" sz="4200" dirty="0"/>
              <a:t>Challenges Faced &amp; Solutions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8611" y="1131110"/>
            <a:ext cx="5942675" cy="6009751"/>
          </a:xfrm>
        </p:spPr>
        <p:txBody>
          <a:bodyPr/>
          <a:lstStyle/>
          <a:p>
            <a:r>
              <a:rPr lang="en-US" sz="2000" dirty="0"/>
              <a:t>Import Challenges and Solutions</a:t>
            </a:r>
          </a:p>
          <a:p>
            <a:endParaRPr lang="en-US" sz="2000" dirty="0"/>
          </a:p>
          <a:p>
            <a:r>
              <a:rPr lang="en-US" sz="2000" dirty="0"/>
              <a:t>Challenge 1: Boolean Values (True/False)</a:t>
            </a:r>
          </a:p>
          <a:p>
            <a:r>
              <a:rPr lang="en-US" sz="2000" dirty="0"/>
              <a:t>Solution: Converted to 0 and 1 in CSV before import</a:t>
            </a:r>
          </a:p>
          <a:p>
            <a:r>
              <a:rPr lang="en-US" sz="2000" dirty="0"/>
              <a:t>Challenge 2: Empty Date Fields  </a:t>
            </a:r>
          </a:p>
          <a:p>
            <a:r>
              <a:rPr lang="en-US" sz="2000" dirty="0"/>
              <a:t>Solution: Used DEFAULT NULL in table definition for </a:t>
            </a:r>
            <a:r>
              <a:rPr lang="en-US" sz="2000" dirty="0" err="1"/>
              <a:t>resolution_date</a:t>
            </a:r>
            <a:endParaRPr lang="en-US" sz="2000" dirty="0"/>
          </a:p>
          <a:p>
            <a:r>
              <a:rPr lang="en-US" sz="2000" dirty="0"/>
              <a:t>Challenge 3: NULL Values in Reference Columns</a:t>
            </a:r>
          </a:p>
          <a:p>
            <a:r>
              <a:rPr lang="en-US" sz="2000" dirty="0"/>
              <a:t>Solution: Made these columns nullable - </a:t>
            </a:r>
            <a:r>
              <a:rPr lang="en-US" sz="2000" dirty="0" err="1"/>
              <a:t>merchant_id</a:t>
            </a:r>
            <a:r>
              <a:rPr lang="en-US" sz="2000" dirty="0"/>
              <a:t> and </a:t>
            </a:r>
            <a:r>
              <a:rPr lang="en-US" sz="2000" dirty="0" err="1"/>
              <a:t>counterparty_upi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All issues resolved - data imported successfully!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93645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455" y="307220"/>
            <a:ext cx="8487090" cy="732796"/>
          </a:xfrm>
        </p:spPr>
        <p:txBody>
          <a:bodyPr/>
          <a:lstStyle/>
          <a:p>
            <a:r>
              <a:rPr lang="en-IN" dirty="0"/>
              <a:t>Summary of Step 4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0" y="1304367"/>
            <a:ext cx="7029353" cy="3887931"/>
          </a:xfrm>
        </p:spPr>
        <p:txBody>
          <a:bodyPr/>
          <a:lstStyle/>
          <a:p>
            <a:r>
              <a:rPr lang="en-US" sz="2000" dirty="0"/>
              <a:t>                                </a:t>
            </a:r>
          </a:p>
          <a:p>
            <a:endParaRPr lang="en-US" sz="2000" dirty="0"/>
          </a:p>
          <a:p>
            <a:r>
              <a:rPr lang="en-US" sz="2000" dirty="0"/>
              <a:t>1. Successfully imported all 7 CSV datasets into MySQL tables.</a:t>
            </a:r>
          </a:p>
          <a:p>
            <a:r>
              <a:rPr lang="en-US" sz="2000" dirty="0"/>
              <a:t>2. Total records imported: [140,500] rows across all tables.</a:t>
            </a:r>
          </a:p>
          <a:p>
            <a:r>
              <a:rPr lang="en-US" sz="2000" dirty="0"/>
              <a:t>3. Resolved data type and NULL value issues during import.</a:t>
            </a:r>
          </a:p>
          <a:p>
            <a:r>
              <a:rPr lang="en-US" sz="2000" dirty="0"/>
              <a:t>4. Verified data integrity - all imports completed without errors.</a:t>
            </a:r>
          </a:p>
          <a:p>
            <a:r>
              <a:rPr lang="en-US" sz="2000" dirty="0"/>
              <a:t>5. Database is now ready for analysis and fraud detection modeling.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3422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73" y="398314"/>
            <a:ext cx="12191999" cy="732796"/>
          </a:xfrm>
        </p:spPr>
        <p:txBody>
          <a:bodyPr/>
          <a:lstStyle/>
          <a:p>
            <a:r>
              <a:rPr lang="en-US" sz="4200" dirty="0"/>
              <a:t>Step 5: Connecting Python to SQL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2108" y="1530736"/>
            <a:ext cx="5743892" cy="3887931"/>
          </a:xfrm>
        </p:spPr>
        <p:txBody>
          <a:bodyPr/>
          <a:lstStyle/>
          <a:p>
            <a:r>
              <a:rPr lang="en-US" sz="2000" dirty="0"/>
              <a:t>Objective:</a:t>
            </a:r>
          </a:p>
          <a:p>
            <a:endParaRPr lang="en-US" sz="2000" dirty="0"/>
          </a:p>
          <a:p>
            <a:r>
              <a:rPr lang="en-US" sz="2000" dirty="0"/>
              <a:t>1. Establish connection between Python and MySQL database.</a:t>
            </a:r>
          </a:p>
          <a:p>
            <a:r>
              <a:rPr lang="en-US" sz="2000" dirty="0"/>
              <a:t>2. Load all 7 tables from SQL into Python </a:t>
            </a:r>
            <a:r>
              <a:rPr lang="en-US" sz="2000" dirty="0" err="1"/>
              <a:t>DataFrames</a:t>
            </a:r>
            <a:r>
              <a:rPr lang="en-US" sz="2000" dirty="0"/>
              <a:t>.</a:t>
            </a:r>
          </a:p>
          <a:p>
            <a:r>
              <a:rPr lang="en-US" sz="2000" dirty="0"/>
              <a:t>3. Validate data integrity after extraction.</a:t>
            </a:r>
          </a:p>
          <a:p>
            <a:r>
              <a:rPr lang="en-US" sz="2000" dirty="0"/>
              <a:t>4. Prepare data for analysis and modeling.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2876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340" y="-24489"/>
            <a:ext cx="6546573" cy="732796"/>
          </a:xfrm>
        </p:spPr>
        <p:txBody>
          <a:bodyPr/>
          <a:lstStyle/>
          <a:p>
            <a:r>
              <a:rPr lang="en-IN" dirty="0"/>
              <a:t>Library Installation &amp; Setup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48870" y="589038"/>
            <a:ext cx="3710609" cy="6158419"/>
          </a:xfrm>
        </p:spPr>
        <p:txBody>
          <a:bodyPr/>
          <a:lstStyle/>
          <a:p>
            <a:r>
              <a:rPr lang="en-US" sz="2000" b="1" dirty="0"/>
              <a:t>Library Installation &amp; Imports</a:t>
            </a:r>
          </a:p>
          <a:p>
            <a:endParaRPr lang="en-US" sz="2000" dirty="0"/>
          </a:p>
          <a:p>
            <a:r>
              <a:rPr lang="en-US" sz="2000" dirty="0"/>
              <a:t>Required Libraries Setup</a:t>
            </a:r>
          </a:p>
          <a:p>
            <a:endParaRPr lang="en-US" sz="2000" dirty="0"/>
          </a:p>
          <a:p>
            <a:r>
              <a:rPr lang="en-US" sz="2000" dirty="0"/>
              <a:t>1. Verified </a:t>
            </a:r>
            <a:r>
              <a:rPr lang="en-US" sz="2000" dirty="0" err="1"/>
              <a:t>pymysql</a:t>
            </a:r>
            <a:r>
              <a:rPr lang="en-US" sz="2000" dirty="0"/>
              <a:t> and </a:t>
            </a:r>
            <a:r>
              <a:rPr lang="en-US" sz="2000" dirty="0" err="1"/>
              <a:t>sqlalchemy</a:t>
            </a:r>
            <a:r>
              <a:rPr lang="en-US" sz="2000" dirty="0"/>
              <a:t> (pre-installed with Anaconda)</a:t>
            </a:r>
          </a:p>
          <a:p>
            <a:r>
              <a:rPr lang="en-US" sz="2000" dirty="0"/>
              <a:t>2. Imported pandas, </a:t>
            </a:r>
            <a:r>
              <a:rPr lang="en-US" sz="2000" dirty="0" err="1"/>
              <a:t>pymysql</a:t>
            </a:r>
            <a:r>
              <a:rPr lang="en-US" sz="2000" dirty="0"/>
              <a:t>, and </a:t>
            </a:r>
            <a:r>
              <a:rPr lang="en-US" sz="2000" dirty="0" err="1"/>
              <a:t>create_engine</a:t>
            </a:r>
            <a:r>
              <a:rPr lang="en-US" sz="2000" dirty="0"/>
              <a:t> modules.</a:t>
            </a:r>
          </a:p>
          <a:p>
            <a:r>
              <a:rPr lang="en-US" sz="2000" dirty="0"/>
              <a:t>3. All libraries loaded successfully.</a:t>
            </a:r>
          </a:p>
          <a:p>
            <a:endParaRPr lang="en-US" sz="2000" dirty="0"/>
          </a:p>
          <a:p>
            <a:r>
              <a:rPr lang="en-US" sz="2000" dirty="0"/>
              <a:t>Environment ready for database connection.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9940" y="4076492"/>
            <a:ext cx="89319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Libraries verified and imported successfully. </a:t>
            </a:r>
          </a:p>
          <a:p>
            <a:endParaRPr lang="en-US" dirty="0"/>
          </a:p>
          <a:p>
            <a:r>
              <a:rPr lang="en-US" dirty="0"/>
              <a:t>Using Anaconda distribution which includes required packages pre-installed.</a:t>
            </a:r>
          </a:p>
          <a:p>
            <a:endParaRPr lang="en-US" dirty="0"/>
          </a:p>
          <a:p>
            <a:r>
              <a:rPr lang="en-US" dirty="0"/>
              <a:t>Verified environment with Python version: 3.11 (Anaconda base).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3433C7-E4D3-4E37-8BD3-B99BDEB81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19" y="708307"/>
            <a:ext cx="835449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86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3E47570-AFAF-4048-9186-C56BC1C6A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" y="984816"/>
            <a:ext cx="7097826" cy="2877497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60" y="63473"/>
            <a:ext cx="7010399" cy="732796"/>
          </a:xfrm>
        </p:spPr>
        <p:txBody>
          <a:bodyPr/>
          <a:lstStyle/>
          <a:p>
            <a:r>
              <a:rPr lang="en-IN" dirty="0"/>
              <a:t>MySQL Database Connection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904923" y="984816"/>
            <a:ext cx="4114799" cy="6158419"/>
          </a:xfrm>
        </p:spPr>
        <p:txBody>
          <a:bodyPr/>
          <a:lstStyle/>
          <a:p>
            <a:r>
              <a:rPr lang="en-US" sz="2000" b="1" dirty="0"/>
              <a:t>Establishing MySQL Connection</a:t>
            </a:r>
            <a:endParaRPr lang="en-US" sz="2000" dirty="0"/>
          </a:p>
          <a:p>
            <a:r>
              <a:rPr lang="en-US" sz="2000" dirty="0"/>
              <a:t>      Connection Setup</a:t>
            </a:r>
          </a:p>
          <a:p>
            <a:endParaRPr lang="en-US" sz="2000" dirty="0"/>
          </a:p>
          <a:p>
            <a:r>
              <a:rPr lang="en-US" sz="2000" dirty="0"/>
              <a:t>1. Configured MySQL credentials (host, user, database)</a:t>
            </a:r>
          </a:p>
          <a:p>
            <a:r>
              <a:rPr lang="en-US" sz="2000" dirty="0"/>
              <a:t>2. Created </a:t>
            </a:r>
            <a:r>
              <a:rPr lang="en-US" sz="2000" dirty="0" err="1"/>
              <a:t>SQLAlchemy</a:t>
            </a:r>
            <a:r>
              <a:rPr lang="en-US" sz="2000" dirty="0"/>
              <a:t> engine with secure connection string</a:t>
            </a:r>
          </a:p>
          <a:p>
            <a:r>
              <a:rPr lang="en-US" sz="2000" dirty="0"/>
              <a:t>3. Tested connection - successfully connected</a:t>
            </a:r>
          </a:p>
          <a:p>
            <a:endParaRPr lang="en-US" sz="2000" dirty="0"/>
          </a:p>
          <a:p>
            <a:r>
              <a:rPr lang="en-US" sz="2000" dirty="0"/>
              <a:t>Database ready for data extraction.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4949854"/>
            <a:ext cx="8931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Established secure connection to MySQL database using </a:t>
            </a:r>
            <a:r>
              <a:rPr lang="en-US" dirty="0" err="1"/>
              <a:t>SQLAlchemy</a:t>
            </a:r>
            <a:r>
              <a:rPr lang="en-US" dirty="0"/>
              <a:t> engine. </a:t>
            </a:r>
          </a:p>
          <a:p>
            <a:endParaRPr lang="en-US" dirty="0"/>
          </a:p>
          <a:p>
            <a:r>
              <a:rPr lang="en-US" dirty="0"/>
              <a:t>Connection verified - ready to extract data from all tables.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8BE183-1B1E-48B8-8AF1-C1F417CF2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666" y="1908146"/>
            <a:ext cx="2685100" cy="26559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2144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60" y="63473"/>
            <a:ext cx="7372662" cy="732796"/>
          </a:xfrm>
        </p:spPr>
        <p:txBody>
          <a:bodyPr/>
          <a:lstStyle/>
          <a:p>
            <a:r>
              <a:rPr lang="en-IN" dirty="0"/>
              <a:t>Loading Data into Data Frames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51915" y="962467"/>
            <a:ext cx="4114799" cy="6158419"/>
          </a:xfrm>
        </p:spPr>
        <p:txBody>
          <a:bodyPr/>
          <a:lstStyle/>
          <a:p>
            <a:r>
              <a:rPr lang="en-US" sz="2000" b="1" dirty="0"/>
              <a:t>Data Extraction from SQL Tables</a:t>
            </a:r>
          </a:p>
          <a:p>
            <a:pPr algn="ctr"/>
            <a:endParaRPr lang="en-US" sz="2000" dirty="0"/>
          </a:p>
          <a:p>
            <a:r>
              <a:rPr lang="en-US" sz="2000" dirty="0"/>
              <a:t>         Data Loading Process</a:t>
            </a:r>
          </a:p>
          <a:p>
            <a:endParaRPr lang="en-US" sz="2000" dirty="0"/>
          </a:p>
          <a:p>
            <a:r>
              <a:rPr lang="en-US" sz="2000" dirty="0"/>
              <a:t>1. Used </a:t>
            </a:r>
            <a:r>
              <a:rPr lang="en-US" sz="2000" dirty="0" err="1"/>
              <a:t>pd.read_sql_query</a:t>
            </a:r>
            <a:r>
              <a:rPr lang="en-US" sz="2000" dirty="0"/>
              <a:t>() to extract data</a:t>
            </a:r>
          </a:p>
          <a:p>
            <a:r>
              <a:rPr lang="en-US" sz="2000" dirty="0"/>
              <a:t>2. Loaded all 7 tables into separate </a:t>
            </a:r>
            <a:r>
              <a:rPr lang="en-US" sz="2000" dirty="0" err="1"/>
              <a:t>DataFrames</a:t>
            </a:r>
            <a:endParaRPr lang="en-US" sz="2000" dirty="0"/>
          </a:p>
          <a:p>
            <a:r>
              <a:rPr lang="en-US" sz="2000" dirty="0"/>
              <a:t>3. Each table converted to Pandas </a:t>
            </a:r>
            <a:r>
              <a:rPr lang="en-US" sz="2000" dirty="0" err="1"/>
              <a:t>DataFrame</a:t>
            </a:r>
            <a:r>
              <a:rPr lang="en-US" sz="2000" dirty="0"/>
              <a:t> format</a:t>
            </a:r>
          </a:p>
          <a:p>
            <a:endParaRPr lang="en-US" sz="2000" dirty="0"/>
          </a:p>
          <a:p>
            <a:r>
              <a:rPr lang="en-US" sz="2000" dirty="0"/>
              <a:t>All datasets successfully extracted from MySQL.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5331569"/>
            <a:ext cx="8931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Executed SQL queries from Python to load all 7 tables into </a:t>
            </a:r>
            <a:r>
              <a:rPr lang="en-US" dirty="0" err="1"/>
              <a:t>DataFrames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Data extraction completed - all 7 tables loaded successfully.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A1A5CC-49A1-48DA-8265-026BE8A3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97" y="984816"/>
            <a:ext cx="7737818" cy="348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33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60" y="63473"/>
            <a:ext cx="7372662" cy="732796"/>
          </a:xfrm>
        </p:spPr>
        <p:txBody>
          <a:bodyPr/>
          <a:lstStyle/>
          <a:p>
            <a:r>
              <a:rPr lang="en-IN" dirty="0"/>
              <a:t>Schema &amp; Data Validation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68146" y="646438"/>
            <a:ext cx="2932042" cy="6158419"/>
          </a:xfrm>
        </p:spPr>
        <p:txBody>
          <a:bodyPr/>
          <a:lstStyle/>
          <a:p>
            <a:r>
              <a:rPr lang="en-US" sz="1600" b="1" dirty="0"/>
              <a:t>Data Validation in Python</a:t>
            </a:r>
          </a:p>
          <a:p>
            <a:endParaRPr lang="en-US" sz="1600" dirty="0"/>
          </a:p>
          <a:p>
            <a:r>
              <a:rPr lang="en-US" sz="1600" dirty="0"/>
              <a:t>Validation Checks Performed</a:t>
            </a:r>
          </a:p>
          <a:p>
            <a:endParaRPr lang="en-US" sz="1600" dirty="0"/>
          </a:p>
          <a:p>
            <a:r>
              <a:rPr lang="en-US" sz="1600" dirty="0"/>
              <a:t>1. Verified row counts match MySQL tables</a:t>
            </a:r>
          </a:p>
          <a:p>
            <a:r>
              <a:rPr lang="en-US" sz="1600" dirty="0"/>
              <a:t>2. Checked </a:t>
            </a:r>
            <a:r>
              <a:rPr lang="en-US" sz="1600" dirty="0" err="1"/>
              <a:t>DataFrame</a:t>
            </a:r>
            <a:r>
              <a:rPr lang="en-US" sz="1600" dirty="0"/>
              <a:t> schemas using .info()</a:t>
            </a:r>
          </a:p>
          <a:p>
            <a:r>
              <a:rPr lang="en-US" sz="1600" dirty="0"/>
              <a:t>3. Confirmed data types are correct</a:t>
            </a:r>
          </a:p>
          <a:p>
            <a:r>
              <a:rPr lang="en-US" sz="1600" dirty="0"/>
              <a:t>4. Displayed sample data from each table</a:t>
            </a:r>
          </a:p>
          <a:p>
            <a:endParaRPr lang="en-US" sz="1600" dirty="0"/>
          </a:p>
          <a:p>
            <a:r>
              <a:rPr lang="en-US" sz="1600" dirty="0"/>
              <a:t>All validation tests passed - data integrity confirmed.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66262" y="5755299"/>
            <a:ext cx="8931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Validated all </a:t>
            </a:r>
            <a:r>
              <a:rPr lang="en-US" dirty="0" err="1"/>
              <a:t>DataFrames</a:t>
            </a:r>
            <a:r>
              <a:rPr lang="en-US" dirty="0"/>
              <a:t> - row counts match original SQL tables. </a:t>
            </a:r>
          </a:p>
          <a:p>
            <a:r>
              <a:rPr lang="en-US" dirty="0"/>
              <a:t>Schema and data types verified successfully.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541550-82A9-4E97-9C25-32433FE76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" y="699581"/>
            <a:ext cx="9334500" cy="4676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5678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455" y="307220"/>
            <a:ext cx="8487090" cy="732796"/>
          </a:xfrm>
        </p:spPr>
        <p:txBody>
          <a:bodyPr/>
          <a:lstStyle/>
          <a:p>
            <a:r>
              <a:rPr lang="en-IN" dirty="0"/>
              <a:t>Summary of Step 5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6018" y="1703037"/>
            <a:ext cx="7029353" cy="3887931"/>
          </a:xfrm>
        </p:spPr>
        <p:txBody>
          <a:bodyPr/>
          <a:lstStyle/>
          <a:p>
            <a:r>
              <a:rPr lang="en-US" sz="2000" dirty="0"/>
              <a:t>1. Successfully installed required Python libraries (</a:t>
            </a:r>
            <a:r>
              <a:rPr lang="en-US" sz="2000" dirty="0" err="1"/>
              <a:t>pymysql</a:t>
            </a:r>
            <a:r>
              <a:rPr lang="en-US" sz="2000" dirty="0"/>
              <a:t>, </a:t>
            </a:r>
            <a:r>
              <a:rPr lang="en-US" sz="2000" dirty="0" err="1"/>
              <a:t>sqlalchemy</a:t>
            </a:r>
            <a:r>
              <a:rPr lang="en-US" sz="2000" dirty="0"/>
              <a:t>, pandas).</a:t>
            </a:r>
          </a:p>
          <a:p>
            <a:r>
              <a:rPr lang="en-US" sz="2000" dirty="0"/>
              <a:t>2. Established secure connection between Python and MySQL database.</a:t>
            </a:r>
          </a:p>
          <a:p>
            <a:r>
              <a:rPr lang="en-US" sz="2000" dirty="0"/>
              <a:t>3. Loaded all 7 tables into Pandas </a:t>
            </a:r>
            <a:r>
              <a:rPr lang="en-US" sz="2000" dirty="0" err="1"/>
              <a:t>DataFrames</a:t>
            </a:r>
            <a:r>
              <a:rPr lang="en-US" sz="2000" dirty="0"/>
              <a:t> using SQL queries.</a:t>
            </a:r>
          </a:p>
          <a:p>
            <a:r>
              <a:rPr lang="en-US" sz="2000" dirty="0"/>
              <a:t>4. Validated data integrity — all datasets extracted correctly from MySQL.</a:t>
            </a:r>
          </a:p>
          <a:p>
            <a:r>
              <a:rPr lang="en-US" sz="2000" dirty="0"/>
              <a:t>5. Data pipeline ready for analysis and fraud detection modeling.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4683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27" y="377474"/>
            <a:ext cx="13385572" cy="732796"/>
          </a:xfrm>
        </p:spPr>
        <p:txBody>
          <a:bodyPr/>
          <a:lstStyle/>
          <a:p>
            <a:r>
              <a:rPr lang="en-US" sz="4000" dirty="0"/>
              <a:t>Step 6: Data Cleaning, Transformations &amp; EDA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8261" y="1485034"/>
            <a:ext cx="6535556" cy="3887931"/>
          </a:xfrm>
        </p:spPr>
        <p:txBody>
          <a:bodyPr/>
          <a:lstStyle/>
          <a:p>
            <a:r>
              <a:rPr lang="en-US" sz="2000" b="1" dirty="0"/>
              <a:t>Objective:</a:t>
            </a:r>
          </a:p>
          <a:p>
            <a:endParaRPr lang="en-US" sz="2000" dirty="0"/>
          </a:p>
          <a:p>
            <a:r>
              <a:rPr lang="en-US" sz="2000" dirty="0"/>
              <a:t>1. Clean extracted data by handling missing values and outliers.</a:t>
            </a:r>
          </a:p>
          <a:p>
            <a:r>
              <a:rPr lang="en-US" sz="2000" dirty="0"/>
              <a:t>2. Normalize and standardize numerical fields (</a:t>
            </a:r>
            <a:r>
              <a:rPr lang="en-US" sz="2000" dirty="0" err="1"/>
              <a:t>risk_score</a:t>
            </a:r>
            <a:r>
              <a:rPr lang="en-US" sz="2000" dirty="0"/>
              <a:t>, amount).</a:t>
            </a:r>
          </a:p>
          <a:p>
            <a:r>
              <a:rPr lang="en-US" sz="2000" dirty="0"/>
              <a:t>3. Create derived features for fraud analysis (fraud ratios, failure rates).</a:t>
            </a:r>
          </a:p>
          <a:p>
            <a:r>
              <a:rPr lang="en-US" sz="2000" dirty="0"/>
              <a:t>4. Perform exploratory data analysis using visualizations to identify patterns and high-risk segments.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637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478" y="15549"/>
            <a:ext cx="3476523" cy="732796"/>
          </a:xfrm>
        </p:spPr>
        <p:txBody>
          <a:bodyPr/>
          <a:lstStyle/>
          <a:p>
            <a:r>
              <a:rPr lang="en-IN"/>
              <a:t>Data Cleaning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62304" y="873896"/>
            <a:ext cx="3629696" cy="6158419"/>
          </a:xfrm>
        </p:spPr>
        <p:txBody>
          <a:bodyPr/>
          <a:lstStyle/>
          <a:p>
            <a:r>
              <a:rPr lang="en-US" sz="2000" b="1" dirty="0"/>
              <a:t>     Data Cleaning Process</a:t>
            </a:r>
          </a:p>
          <a:p>
            <a:endParaRPr lang="en-US" sz="2000" dirty="0"/>
          </a:p>
          <a:p>
            <a:r>
              <a:rPr lang="en-US" sz="2000" dirty="0"/>
              <a:t>1. Checked for missing values across all tables.</a:t>
            </a:r>
          </a:p>
          <a:p>
            <a:r>
              <a:rPr lang="en-US" sz="2000" dirty="0"/>
              <a:t>2. Filled missing </a:t>
            </a:r>
            <a:r>
              <a:rPr lang="en-US" sz="2000" dirty="0" err="1"/>
              <a:t>merchant_id</a:t>
            </a:r>
            <a:r>
              <a:rPr lang="en-US" sz="2000" dirty="0"/>
              <a:t> and </a:t>
            </a:r>
            <a:r>
              <a:rPr lang="en-US" sz="2000" dirty="0" err="1"/>
              <a:t>counterparty_upi</a:t>
            </a:r>
            <a:r>
              <a:rPr lang="en-US" sz="2000" dirty="0"/>
              <a:t> with 'Unknown’.</a:t>
            </a:r>
          </a:p>
          <a:p>
            <a:r>
              <a:rPr lang="en-US" sz="2000" dirty="0"/>
              <a:t>3. Filled missing </a:t>
            </a:r>
            <a:r>
              <a:rPr lang="en-US" sz="2000" dirty="0" err="1"/>
              <a:t>failure_reason</a:t>
            </a:r>
            <a:r>
              <a:rPr lang="en-US" sz="2000" dirty="0"/>
              <a:t> with 'None’.</a:t>
            </a:r>
          </a:p>
          <a:p>
            <a:r>
              <a:rPr lang="en-US" sz="2000" dirty="0"/>
              <a:t>4. Retained meaningful NULLs in </a:t>
            </a:r>
            <a:r>
              <a:rPr lang="en-US" sz="2000" dirty="0" err="1"/>
              <a:t>resolution_date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   Data cleaned successfully.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5565916"/>
            <a:ext cx="5446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Missing values identified and handled appropriately. </a:t>
            </a:r>
          </a:p>
          <a:p>
            <a:endParaRPr lang="en-US" dirty="0"/>
          </a:p>
          <a:p>
            <a:r>
              <a:rPr lang="en-US" dirty="0"/>
              <a:t>Data ready for normalization and feature engineering.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F08E2F-F0A4-4655-BA92-DF830A309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2468"/>
            <a:ext cx="4105275" cy="41704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1CCE54-3B39-4D37-9292-B9C84C625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275" y="962468"/>
            <a:ext cx="2219325" cy="41704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BCCE3F-E39E-4E1B-8C77-061214A5B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514" y="962468"/>
            <a:ext cx="2238790" cy="4170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49FC7A-29CA-4576-9546-36D482AB1A51}"/>
              </a:ext>
            </a:extLst>
          </p:cNvPr>
          <p:cNvSpPr txBox="1"/>
          <p:nvPr/>
        </p:nvSpPr>
        <p:spPr>
          <a:xfrm>
            <a:off x="333792" y="504564"/>
            <a:ext cx="83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6300B-65B7-471B-B704-826E568AD035}"/>
              </a:ext>
            </a:extLst>
          </p:cNvPr>
          <p:cNvSpPr txBox="1"/>
          <p:nvPr/>
        </p:nvSpPr>
        <p:spPr>
          <a:xfrm>
            <a:off x="5863001" y="563679"/>
            <a:ext cx="921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highlight>
                  <a:srgbClr val="FF0000"/>
                </a:highlight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3122492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748" y="-115777"/>
            <a:ext cx="7804444" cy="732796"/>
          </a:xfrm>
        </p:spPr>
        <p:txBody>
          <a:bodyPr/>
          <a:lstStyle/>
          <a:p>
            <a:r>
              <a:rPr lang="en-IN" dirty="0"/>
              <a:t>Normalization &amp; Standardization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53182" y="607188"/>
            <a:ext cx="2938817" cy="6158419"/>
          </a:xfrm>
        </p:spPr>
        <p:txBody>
          <a:bodyPr/>
          <a:lstStyle/>
          <a:p>
            <a:r>
              <a:rPr lang="en-US" sz="2000" b="1" dirty="0"/>
              <a:t>     Normalization Process</a:t>
            </a:r>
          </a:p>
          <a:p>
            <a:endParaRPr lang="en-US" sz="2000" dirty="0"/>
          </a:p>
          <a:p>
            <a:r>
              <a:rPr lang="en-US" sz="2000" dirty="0"/>
              <a:t>1. Used </a:t>
            </a:r>
            <a:r>
              <a:rPr lang="en-US" sz="2000" dirty="0" err="1"/>
              <a:t>StandardScaler</a:t>
            </a:r>
            <a:r>
              <a:rPr lang="en-US" sz="2000" dirty="0"/>
              <a:t> for normalization</a:t>
            </a:r>
          </a:p>
          <a:p>
            <a:r>
              <a:rPr lang="en-US" sz="2000" dirty="0"/>
              <a:t>2. Normalized customer </a:t>
            </a:r>
            <a:r>
              <a:rPr lang="en-US" sz="2000" dirty="0" err="1"/>
              <a:t>risk_score</a:t>
            </a:r>
            <a:endParaRPr lang="en-US" sz="2000" dirty="0"/>
          </a:p>
          <a:p>
            <a:r>
              <a:rPr lang="en-US" sz="2000" dirty="0"/>
              <a:t>   - Original: mean=0.20, std=0.12</a:t>
            </a:r>
          </a:p>
          <a:p>
            <a:r>
              <a:rPr lang="en-US" sz="2000" dirty="0"/>
              <a:t>   - Normalized: mean=0, std=1</a:t>
            </a:r>
          </a:p>
          <a:p>
            <a:r>
              <a:rPr lang="en-US" sz="2000" dirty="0"/>
              <a:t>3. Normalized transaction amount</a:t>
            </a:r>
          </a:p>
          <a:p>
            <a:r>
              <a:rPr lang="en-US" sz="2000" dirty="0"/>
              <a:t>   - Original: mean=42.42, std=34.19</a:t>
            </a:r>
          </a:p>
          <a:p>
            <a:r>
              <a:rPr lang="en-US" sz="2000" dirty="0"/>
              <a:t>   - Normalized: mean=0, std=1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0" y="6583045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733407" y="6548729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333792" y="5733929"/>
            <a:ext cx="6784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Applied </a:t>
            </a:r>
            <a:r>
              <a:rPr lang="en-US" dirty="0" err="1"/>
              <a:t>StandardScaler</a:t>
            </a:r>
            <a:r>
              <a:rPr lang="en-US" dirty="0"/>
              <a:t> to normalize </a:t>
            </a:r>
            <a:r>
              <a:rPr lang="en-US" dirty="0" err="1"/>
              <a:t>risk_score</a:t>
            </a:r>
            <a:r>
              <a:rPr lang="en-US" dirty="0"/>
              <a:t> and amount fields. </a:t>
            </a:r>
          </a:p>
          <a:p>
            <a:r>
              <a:rPr lang="en-US" dirty="0"/>
              <a:t>Standardized data ready for modeling.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9FC7A-29CA-4576-9546-36D482AB1A51}"/>
              </a:ext>
            </a:extLst>
          </p:cNvPr>
          <p:cNvSpPr txBox="1"/>
          <p:nvPr/>
        </p:nvSpPr>
        <p:spPr>
          <a:xfrm>
            <a:off x="333792" y="504564"/>
            <a:ext cx="83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6300B-65B7-471B-B704-826E568AD035}"/>
              </a:ext>
            </a:extLst>
          </p:cNvPr>
          <p:cNvSpPr txBox="1"/>
          <p:nvPr/>
        </p:nvSpPr>
        <p:spPr>
          <a:xfrm>
            <a:off x="5863001" y="563679"/>
            <a:ext cx="921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highlight>
                  <a:srgbClr val="FF0000"/>
                </a:highlight>
              </a:rPr>
              <a:t>RESULT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B421ED-84F9-4272-9FCB-5141417C7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553" y="976286"/>
            <a:ext cx="3460465" cy="46572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2F9177-3D2B-4AA6-896C-8F9D38284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206" y="1241599"/>
            <a:ext cx="3188976" cy="4409118"/>
          </a:xfrm>
          <a:prstGeom prst="rect">
            <a:avLst/>
          </a:prstGeom>
          <a:ln>
            <a:solidFill>
              <a:schemeClr val="tx1"/>
            </a:solidFill>
            <a:prstDash val="sysDash"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EC60E7-CB5A-49A0-9BD1-CA41D8CD7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76286"/>
            <a:ext cx="3743325" cy="465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01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191" y="-104407"/>
            <a:ext cx="7804444" cy="732796"/>
          </a:xfrm>
        </p:spPr>
        <p:txBody>
          <a:bodyPr/>
          <a:lstStyle/>
          <a:p>
            <a:r>
              <a:rPr lang="en-IN" dirty="0"/>
              <a:t>Feature Engineering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970635" y="15648"/>
            <a:ext cx="3259740" cy="6158419"/>
          </a:xfrm>
        </p:spPr>
        <p:txBody>
          <a:bodyPr/>
          <a:lstStyle/>
          <a:p>
            <a:r>
              <a:rPr lang="en-US" sz="2000" b="1" dirty="0"/>
              <a:t>Derived Features Created</a:t>
            </a:r>
          </a:p>
          <a:p>
            <a:endParaRPr lang="en-US" sz="2000" dirty="0"/>
          </a:p>
          <a:p>
            <a:r>
              <a:rPr lang="en-US" sz="2000" dirty="0"/>
              <a:t>1. Transaction Value per Customer</a:t>
            </a:r>
          </a:p>
          <a:p>
            <a:r>
              <a:rPr lang="en-US" sz="2000" dirty="0"/>
              <a:t>   (Total Amount / Transaction Count)</a:t>
            </a:r>
          </a:p>
          <a:p>
            <a:r>
              <a:rPr lang="en-US" sz="2000" dirty="0"/>
              <a:t>2. Merchant Fraud Ratio</a:t>
            </a:r>
          </a:p>
          <a:p>
            <a:r>
              <a:rPr lang="en-US" sz="2000" dirty="0"/>
              <a:t>   (Fraud Transactions / Total)</a:t>
            </a:r>
          </a:p>
          <a:p>
            <a:r>
              <a:rPr lang="en-US" sz="2000" dirty="0"/>
              <a:t>3. Device Fraud Ratio</a:t>
            </a:r>
          </a:p>
          <a:p>
            <a:r>
              <a:rPr lang="en-US" sz="2000" dirty="0"/>
              <a:t>   (Fraud by Device / Total)</a:t>
            </a:r>
          </a:p>
          <a:p>
            <a:r>
              <a:rPr lang="en-US" sz="2000" dirty="0"/>
              <a:t>4. Transaction Failure Rate</a:t>
            </a:r>
          </a:p>
          <a:p>
            <a:r>
              <a:rPr lang="en-US" sz="2000" dirty="0"/>
              <a:t>   (Failed / Total Transactions)</a:t>
            </a:r>
          </a:p>
          <a:p>
            <a:endParaRPr lang="en-US" sz="2000" dirty="0"/>
          </a:p>
          <a:p>
            <a:r>
              <a:rPr lang="en-US" sz="2000" dirty="0"/>
              <a:t>All features engineered successfully.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0" y="6583045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-39702" y="5902398"/>
            <a:ext cx="7573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Created four derived features for fraud analysis. Features capture customer </a:t>
            </a:r>
          </a:p>
          <a:p>
            <a:r>
              <a:rPr lang="en-US" dirty="0"/>
              <a:t>behavior, merchant risk, device patterns, and transaction success rates.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9FC7A-29CA-4576-9546-36D482AB1A51}"/>
              </a:ext>
            </a:extLst>
          </p:cNvPr>
          <p:cNvSpPr txBox="1"/>
          <p:nvPr/>
        </p:nvSpPr>
        <p:spPr>
          <a:xfrm>
            <a:off x="333792" y="504564"/>
            <a:ext cx="83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6300B-65B7-471B-B704-826E568AD035}"/>
              </a:ext>
            </a:extLst>
          </p:cNvPr>
          <p:cNvSpPr txBox="1"/>
          <p:nvPr/>
        </p:nvSpPr>
        <p:spPr>
          <a:xfrm>
            <a:off x="5863001" y="563679"/>
            <a:ext cx="921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highlight>
                  <a:srgbClr val="FF0000"/>
                </a:highlight>
              </a:rPr>
              <a:t>RESULT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726170-6F21-4988-9AFA-6CCDDD54D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2" y="887834"/>
            <a:ext cx="4333875" cy="5000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4AEFFA-64D1-454A-95C2-83DB5A458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958" y="893826"/>
            <a:ext cx="3881111" cy="499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34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686" y="-25697"/>
            <a:ext cx="7804444" cy="732796"/>
          </a:xfrm>
        </p:spPr>
        <p:txBody>
          <a:bodyPr/>
          <a:lstStyle/>
          <a:p>
            <a:r>
              <a:rPr lang="en-IN" dirty="0"/>
              <a:t>Temporal Trends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932260" y="544246"/>
            <a:ext cx="3259740" cy="6158419"/>
          </a:xfrm>
        </p:spPr>
        <p:txBody>
          <a:bodyPr/>
          <a:lstStyle/>
          <a:p>
            <a:r>
              <a:rPr lang="en-US" sz="2000" b="1" dirty="0"/>
              <a:t>Temporal Trend Analysis</a:t>
            </a:r>
          </a:p>
          <a:p>
            <a:endParaRPr lang="en-US" sz="2000" dirty="0"/>
          </a:p>
          <a:p>
            <a:r>
              <a:rPr lang="en-US" sz="2000" dirty="0"/>
              <a:t>1. Daily transaction volume shows consistent activity patterns.</a:t>
            </a:r>
          </a:p>
          <a:p>
            <a:r>
              <a:rPr lang="en-US" sz="2000" dirty="0"/>
              <a:t>2. Monthly analysis reveals fraud distribution over time.</a:t>
            </a:r>
          </a:p>
          <a:p>
            <a:r>
              <a:rPr lang="en-US" sz="2000" dirty="0"/>
              <a:t>3. Peak transaction periods identified.</a:t>
            </a:r>
          </a:p>
          <a:p>
            <a:r>
              <a:rPr lang="en-US" sz="2000" dirty="0"/>
              <a:t>4. Fraud trends tracked monthly.</a:t>
            </a:r>
          </a:p>
          <a:p>
            <a:endParaRPr lang="en-US" sz="2000" dirty="0"/>
          </a:p>
          <a:p>
            <a:r>
              <a:rPr lang="en-US" sz="2000" dirty="0"/>
              <a:t>Temporal patterns analyzed.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36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221369" y="625987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Visualized transaction trends over time. Daily volumes show consistent patterns with monthly fraud distribution tracked.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10A38D-5182-486A-9957-FCCEC8D77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" y="544246"/>
            <a:ext cx="8921077" cy="29612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E1B426-F98C-4569-A553-2640B2D1C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505510"/>
            <a:ext cx="8932259" cy="27124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63454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814" y="-117193"/>
            <a:ext cx="7804444" cy="732796"/>
          </a:xfrm>
        </p:spPr>
        <p:txBody>
          <a:bodyPr/>
          <a:lstStyle/>
          <a:p>
            <a:r>
              <a:rPr lang="en-IN" dirty="0"/>
              <a:t>EDA - Heatmaps &amp; Boxplots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20200" y="615603"/>
            <a:ext cx="3080983" cy="6158419"/>
          </a:xfrm>
        </p:spPr>
        <p:txBody>
          <a:bodyPr/>
          <a:lstStyle/>
          <a:p>
            <a:r>
              <a:rPr lang="en-US" sz="2000" b="1" dirty="0"/>
              <a:t>     Pattern Detection</a:t>
            </a:r>
          </a:p>
          <a:p>
            <a:endParaRPr lang="en-US" sz="2000" dirty="0"/>
          </a:p>
          <a:p>
            <a:r>
              <a:rPr lang="en-US" sz="2000" dirty="0"/>
              <a:t>1. Correlation heatmap shows relationships between variables.</a:t>
            </a:r>
          </a:p>
          <a:p>
            <a:r>
              <a:rPr lang="en-US" sz="2000" dirty="0"/>
              <a:t>2. Boxplot reveals amount distribution patterns.</a:t>
            </a:r>
          </a:p>
          <a:p>
            <a:r>
              <a:rPr lang="en-US" sz="2000" dirty="0"/>
              <a:t>3. Fraud vs normal transaction amounts compared.</a:t>
            </a:r>
          </a:p>
          <a:p>
            <a:r>
              <a:rPr lang="en-US" sz="2000" dirty="0"/>
              <a:t>4. Outliers and high-risk segments identified.</a:t>
            </a:r>
          </a:p>
          <a:p>
            <a:endParaRPr lang="en-US" sz="2000" dirty="0"/>
          </a:p>
          <a:p>
            <a:r>
              <a:rPr lang="en-US" sz="2000" dirty="0"/>
              <a:t>Statistical patterns analyzed.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232011" y="5432523"/>
            <a:ext cx="8447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Generated heatmap and boxplots to detect patterns. </a:t>
            </a:r>
          </a:p>
          <a:p>
            <a:r>
              <a:rPr lang="en-US" dirty="0"/>
              <a:t>Fraud transactions show distinct amount patterns compared to normal transactions.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BAB082-58F0-49F8-9897-C37411ED0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146"/>
            <a:ext cx="6885866" cy="44292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AAE09C-0EBE-4D95-81B6-94782A6C6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866" y="779145"/>
            <a:ext cx="2334334" cy="44292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19839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924" y="-19094"/>
            <a:ext cx="8487090" cy="732796"/>
          </a:xfrm>
        </p:spPr>
        <p:txBody>
          <a:bodyPr/>
          <a:lstStyle/>
          <a:p>
            <a:r>
              <a:rPr lang="en-IN" dirty="0"/>
              <a:t>Summary of Step 6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0" y="1265692"/>
            <a:ext cx="6891130" cy="3887931"/>
          </a:xfrm>
        </p:spPr>
        <p:txBody>
          <a:bodyPr/>
          <a:lstStyle/>
          <a:p>
            <a:r>
              <a:rPr lang="en-US" sz="2000" dirty="0"/>
              <a:t>1. Cleaned data by handling missing values appropriately across all tables.</a:t>
            </a:r>
          </a:p>
          <a:p>
            <a:r>
              <a:rPr lang="en-US" sz="2000" dirty="0"/>
              <a:t>2. Normalized </a:t>
            </a:r>
            <a:r>
              <a:rPr lang="en-US" sz="2000" dirty="0" err="1"/>
              <a:t>risk_score</a:t>
            </a:r>
            <a:r>
              <a:rPr lang="en-US" sz="2000" dirty="0"/>
              <a:t> and amount using </a:t>
            </a:r>
            <a:r>
              <a:rPr lang="en-US" sz="2000" dirty="0" err="1"/>
              <a:t>StandardScaler</a:t>
            </a:r>
            <a:r>
              <a:rPr lang="en-US" sz="2000" dirty="0"/>
              <a:t> for modeling.</a:t>
            </a:r>
          </a:p>
          <a:p>
            <a:r>
              <a:rPr lang="en-US" sz="2000" dirty="0"/>
              <a:t>3. Created four derived features: transaction value per customer, merchant fraud ratio, device fraud ratio, and failure rate.</a:t>
            </a:r>
          </a:p>
          <a:p>
            <a:r>
              <a:rPr lang="en-US" sz="2000" dirty="0"/>
              <a:t>4. Performed temporal analysis showing transaction and fraud trends over time.</a:t>
            </a:r>
          </a:p>
          <a:p>
            <a:r>
              <a:rPr lang="en-US" sz="2000" dirty="0"/>
              <a:t>5. Generated correlation heatmaps and boxplots revealing fraud patterns and high-risk segments.</a:t>
            </a:r>
          </a:p>
          <a:p>
            <a:r>
              <a:rPr lang="en-US" sz="2000" dirty="0"/>
              <a:t>6. Data fully prepared for fraud detection modeling in Step 7.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1366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27" y="78949"/>
            <a:ext cx="13385572" cy="732796"/>
          </a:xfrm>
        </p:spPr>
        <p:txBody>
          <a:bodyPr/>
          <a:lstStyle/>
          <a:p>
            <a:r>
              <a:rPr lang="en-US" sz="4000" dirty="0"/>
              <a:t>Step 7: Statistical Analysis in Python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65927" y="1246495"/>
            <a:ext cx="6535556" cy="3887931"/>
          </a:xfrm>
        </p:spPr>
        <p:txBody>
          <a:bodyPr/>
          <a:lstStyle/>
          <a:p>
            <a:r>
              <a:rPr lang="en-US" sz="2000" b="1" dirty="0"/>
              <a:t>Objective:</a:t>
            </a:r>
          </a:p>
          <a:p>
            <a:endParaRPr lang="en-US" sz="2000" dirty="0"/>
          </a:p>
          <a:p>
            <a:r>
              <a:rPr lang="en-US" sz="2000" dirty="0"/>
              <a:t>1. Perform statistical hypothesis testing to validate business insights.</a:t>
            </a:r>
          </a:p>
          <a:p>
            <a:r>
              <a:rPr lang="en-US" sz="2000" dirty="0"/>
              <a:t>2. Use T-tests to compare transaction amounts across device types and regions.</a:t>
            </a:r>
          </a:p>
          <a:p>
            <a:r>
              <a:rPr lang="en-US" sz="2000" dirty="0"/>
              <a:t>3. Apply ANOVA to evaluate fraud rate variability by merchant type.</a:t>
            </a:r>
          </a:p>
          <a:p>
            <a:r>
              <a:rPr lang="en-US" sz="2000" dirty="0"/>
              <a:t>4. Conduct Chi-square tests for associations between fraud and channels.</a:t>
            </a:r>
          </a:p>
          <a:p>
            <a:r>
              <a:rPr lang="en-US" sz="2000" dirty="0"/>
              <a:t>5. Analyze correlation between </a:t>
            </a:r>
            <a:r>
              <a:rPr lang="en-US" sz="2000" dirty="0" err="1"/>
              <a:t>risk_score</a:t>
            </a:r>
            <a:r>
              <a:rPr lang="en-US" sz="2000" dirty="0"/>
              <a:t> and fraud occurrence.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31652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B58C133-B607-452F-A2BE-837F8F62C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" y="824877"/>
            <a:ext cx="7094311" cy="358557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478" y="15549"/>
            <a:ext cx="3842044" cy="732796"/>
          </a:xfrm>
        </p:spPr>
        <p:txBody>
          <a:bodyPr/>
          <a:lstStyle/>
          <a:p>
            <a:r>
              <a:rPr lang="en-IN" dirty="0"/>
              <a:t>T-Tests Analysis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72721" y="504564"/>
            <a:ext cx="3629696" cy="6158419"/>
          </a:xfrm>
        </p:spPr>
        <p:txBody>
          <a:bodyPr/>
          <a:lstStyle/>
          <a:p>
            <a:r>
              <a:rPr lang="en-US" sz="2000" b="1" dirty="0"/>
              <a:t>         T-Test Analysis</a:t>
            </a:r>
          </a:p>
          <a:p>
            <a:endParaRPr lang="en-US" sz="2000" dirty="0"/>
          </a:p>
          <a:p>
            <a:r>
              <a:rPr lang="en-US" sz="2000" dirty="0"/>
              <a:t>1. Compared transaction amounts across device types</a:t>
            </a:r>
          </a:p>
          <a:p>
            <a:r>
              <a:rPr lang="en-US" sz="2000" dirty="0"/>
              <a:t>2. Tested mobile vs android transactions</a:t>
            </a:r>
          </a:p>
          <a:p>
            <a:r>
              <a:rPr lang="en-US" sz="2000" dirty="0"/>
              <a:t>3. Calculated T-statistic and P-value</a:t>
            </a:r>
          </a:p>
          <a:p>
            <a:r>
              <a:rPr lang="en-US" sz="2000" dirty="0"/>
              <a:t>4. Evaluated statistical significance (α = 0.05)</a:t>
            </a:r>
          </a:p>
          <a:p>
            <a:endParaRPr lang="en-US" sz="2000" dirty="0"/>
          </a:p>
          <a:p>
            <a:r>
              <a:rPr lang="en-US" sz="2000" dirty="0"/>
              <a:t>Hypothesis tested successfully.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5174012"/>
            <a:ext cx="8562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Performed independent T-test to compare transaction amounts. </a:t>
            </a:r>
          </a:p>
          <a:p>
            <a:r>
              <a:rPr lang="en-US" dirty="0"/>
              <a:t>P-value indicates whether difference between device types is statistically significant.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9FC7A-29CA-4576-9546-36D482AB1A51}"/>
              </a:ext>
            </a:extLst>
          </p:cNvPr>
          <p:cNvSpPr txBox="1"/>
          <p:nvPr/>
        </p:nvSpPr>
        <p:spPr>
          <a:xfrm>
            <a:off x="333792" y="504564"/>
            <a:ext cx="83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6300B-65B7-471B-B704-826E568AD035}"/>
              </a:ext>
            </a:extLst>
          </p:cNvPr>
          <p:cNvSpPr txBox="1"/>
          <p:nvPr/>
        </p:nvSpPr>
        <p:spPr>
          <a:xfrm>
            <a:off x="5635486" y="2007163"/>
            <a:ext cx="921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highlight>
                  <a:srgbClr val="FF0000"/>
                </a:highlight>
              </a:rPr>
              <a:t>RESULT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09D6CA-7B12-4505-98E2-751772BA0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857" y="2334751"/>
            <a:ext cx="4302447" cy="1395777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2844952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6E6731-8914-442D-95C0-CE828387A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" y="873896"/>
            <a:ext cx="7640731" cy="365143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130" y="209663"/>
            <a:ext cx="3842044" cy="732796"/>
          </a:xfrm>
        </p:spPr>
        <p:txBody>
          <a:bodyPr/>
          <a:lstStyle/>
          <a:p>
            <a:r>
              <a:rPr lang="en-IN" dirty="0"/>
              <a:t>ANOVA Test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46435" y="504564"/>
            <a:ext cx="3555982" cy="6158419"/>
          </a:xfrm>
        </p:spPr>
        <p:txBody>
          <a:bodyPr/>
          <a:lstStyle/>
          <a:p>
            <a:r>
              <a:rPr lang="en-US" sz="2000" dirty="0"/>
              <a:t>        </a:t>
            </a:r>
            <a:r>
              <a:rPr lang="en-US" sz="2000" b="1" dirty="0"/>
              <a:t>ANOVA Analysis</a:t>
            </a:r>
          </a:p>
          <a:p>
            <a:endParaRPr lang="en-US" sz="2000" dirty="0"/>
          </a:p>
          <a:p>
            <a:r>
              <a:rPr lang="en-US" sz="2000" dirty="0"/>
              <a:t>1. Tested fraud rate variability </a:t>
            </a:r>
          </a:p>
          <a:p>
            <a:r>
              <a:rPr lang="en-US" sz="2000" dirty="0"/>
              <a:t>   across merchant types.</a:t>
            </a:r>
          </a:p>
          <a:p>
            <a:r>
              <a:rPr lang="en-US" sz="2000" dirty="0"/>
              <a:t>2. Analyzed variance between </a:t>
            </a:r>
          </a:p>
          <a:p>
            <a:r>
              <a:rPr lang="en-US" sz="2000" dirty="0"/>
              <a:t>   multiple merchant groups.</a:t>
            </a:r>
          </a:p>
          <a:p>
            <a:r>
              <a:rPr lang="en-US" sz="2000" dirty="0"/>
              <a:t>3. Calculated F-statistic and </a:t>
            </a:r>
          </a:p>
          <a:p>
            <a:r>
              <a:rPr lang="en-US" sz="2000" dirty="0"/>
              <a:t>   P-value.</a:t>
            </a:r>
          </a:p>
          <a:p>
            <a:r>
              <a:rPr lang="en-US" sz="2000" dirty="0"/>
              <a:t>4. Identified significant </a:t>
            </a:r>
          </a:p>
          <a:p>
            <a:r>
              <a:rPr lang="en-US" sz="2000" dirty="0"/>
              <a:t>   differences in fraud patterns.</a:t>
            </a:r>
          </a:p>
          <a:p>
            <a:endParaRPr lang="en-US" sz="2000" dirty="0"/>
          </a:p>
          <a:p>
            <a:r>
              <a:rPr lang="en-US" sz="2000" dirty="0"/>
              <a:t>Merchant fraud patterns analyzed.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5174012"/>
            <a:ext cx="8562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Applied one-way ANOVA to test fraud rate differences across merchants. </a:t>
            </a:r>
          </a:p>
          <a:p>
            <a:r>
              <a:rPr lang="en-US" dirty="0"/>
              <a:t>F-statistic evaluates variance between merchant groups.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9FC7A-29CA-4576-9546-36D482AB1A51}"/>
              </a:ext>
            </a:extLst>
          </p:cNvPr>
          <p:cNvSpPr txBox="1"/>
          <p:nvPr/>
        </p:nvSpPr>
        <p:spPr>
          <a:xfrm>
            <a:off x="333792" y="504564"/>
            <a:ext cx="83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6300B-65B7-471B-B704-826E568AD035}"/>
              </a:ext>
            </a:extLst>
          </p:cNvPr>
          <p:cNvSpPr txBox="1"/>
          <p:nvPr/>
        </p:nvSpPr>
        <p:spPr>
          <a:xfrm>
            <a:off x="5975074" y="2371445"/>
            <a:ext cx="921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highlight>
                  <a:srgbClr val="FF0000"/>
                </a:highlight>
              </a:rPr>
              <a:t>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011FED-AB8A-4A5A-A699-881FE77FD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638" y="2699615"/>
            <a:ext cx="4437899" cy="1027724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37983457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5504" y="77360"/>
            <a:ext cx="3842044" cy="732796"/>
          </a:xfrm>
        </p:spPr>
        <p:txBody>
          <a:bodyPr/>
          <a:lstStyle/>
          <a:p>
            <a:r>
              <a:rPr lang="en-IN" dirty="0"/>
              <a:t>Chi-Square Test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46435" y="504564"/>
            <a:ext cx="3555982" cy="6158419"/>
          </a:xfrm>
        </p:spPr>
        <p:txBody>
          <a:bodyPr/>
          <a:lstStyle/>
          <a:p>
            <a:r>
              <a:rPr lang="en-US" sz="2000" dirty="0"/>
              <a:t>        </a:t>
            </a:r>
            <a:r>
              <a:rPr lang="en-US" sz="2000" b="1" dirty="0"/>
              <a:t>Chi-Square Test</a:t>
            </a:r>
          </a:p>
          <a:p>
            <a:endParaRPr lang="en-US" sz="2000" dirty="0"/>
          </a:p>
          <a:p>
            <a:r>
              <a:rPr lang="en-US" sz="2000" dirty="0"/>
              <a:t>1. Tested association between fraud flag and channel type.</a:t>
            </a:r>
          </a:p>
          <a:p>
            <a:r>
              <a:rPr lang="en-US" sz="2000" dirty="0"/>
              <a:t>2. Created contingency table showing frequency distribution.</a:t>
            </a:r>
          </a:p>
          <a:p>
            <a:r>
              <a:rPr lang="en-US" sz="2000" dirty="0"/>
              <a:t>3. Calculated Chi-square statistic and P-value.</a:t>
            </a:r>
          </a:p>
          <a:p>
            <a:r>
              <a:rPr lang="en-US" sz="2000" dirty="0"/>
              <a:t>4. Determined if fraud is channel-dependent.</a:t>
            </a:r>
          </a:p>
          <a:p>
            <a:endParaRPr lang="en-US" sz="2000" dirty="0"/>
          </a:p>
          <a:p>
            <a:r>
              <a:rPr lang="en-US" sz="2000" dirty="0"/>
              <a:t>Association tested successfully.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5174012"/>
            <a:ext cx="8562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Conducted Chi-square test to examine relationship between fraud occurrence </a:t>
            </a:r>
          </a:p>
          <a:p>
            <a:r>
              <a:rPr lang="en-US" dirty="0"/>
              <a:t>and transaction channels. Contingency table shows frequency distribution.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9FC7A-29CA-4576-9546-36D482AB1A51}"/>
              </a:ext>
            </a:extLst>
          </p:cNvPr>
          <p:cNvSpPr txBox="1"/>
          <p:nvPr/>
        </p:nvSpPr>
        <p:spPr>
          <a:xfrm>
            <a:off x="1281323" y="709063"/>
            <a:ext cx="83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6300B-65B7-471B-B704-826E568AD035}"/>
              </a:ext>
            </a:extLst>
          </p:cNvPr>
          <p:cNvSpPr txBox="1"/>
          <p:nvPr/>
        </p:nvSpPr>
        <p:spPr>
          <a:xfrm>
            <a:off x="6241772" y="2083385"/>
            <a:ext cx="921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highlight>
                  <a:srgbClr val="FF0000"/>
                </a:highlight>
              </a:rPr>
              <a:t>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1A6D13-EF63-4FB9-8DDA-EFBDE075C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" y="1037657"/>
            <a:ext cx="5569225" cy="36813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55E5DC-F51E-415E-BCBE-591778FD8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146" y="2438780"/>
            <a:ext cx="3918141" cy="2443989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15466134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931" y="111751"/>
            <a:ext cx="4835800" cy="732796"/>
          </a:xfrm>
        </p:spPr>
        <p:txBody>
          <a:bodyPr/>
          <a:lstStyle/>
          <a:p>
            <a:r>
              <a:rPr lang="en-IN" dirty="0"/>
              <a:t>Correlation Analysis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044772" y="111751"/>
            <a:ext cx="5189313" cy="6158419"/>
          </a:xfrm>
        </p:spPr>
        <p:txBody>
          <a:bodyPr/>
          <a:lstStyle/>
          <a:p>
            <a:r>
              <a:rPr lang="en-US" sz="2000" b="1" dirty="0"/>
              <a:t>      </a:t>
            </a:r>
          </a:p>
          <a:p>
            <a:endParaRPr lang="en-US" sz="2000" dirty="0"/>
          </a:p>
          <a:p>
            <a:r>
              <a:rPr lang="en-US" sz="2000" dirty="0"/>
              <a:t>1. Analyzed relationship between customer </a:t>
            </a:r>
            <a:r>
              <a:rPr lang="en-US" sz="2000" dirty="0" err="1"/>
              <a:t>risk_score</a:t>
            </a:r>
            <a:r>
              <a:rPr lang="en-US" sz="2000" dirty="0"/>
              <a:t> and fraud.</a:t>
            </a:r>
          </a:p>
          <a:p>
            <a:r>
              <a:rPr lang="en-US" sz="2000" dirty="0"/>
              <a:t>2. Calculated Pearson correlation coefficient.</a:t>
            </a:r>
          </a:p>
          <a:p>
            <a:r>
              <a:rPr lang="en-US" sz="2000" dirty="0"/>
              <a:t>3. Visualized pattern using scatter plot.</a:t>
            </a:r>
          </a:p>
          <a:p>
            <a:r>
              <a:rPr lang="en-US" sz="2000" dirty="0"/>
              <a:t>4. Evaluated strength and direction of relationship.</a:t>
            </a:r>
          </a:p>
          <a:p>
            <a:endParaRPr lang="en-US" sz="2000" dirty="0"/>
          </a:p>
          <a:p>
            <a:r>
              <a:rPr lang="en-US" sz="2000" dirty="0"/>
              <a:t>       Risk-fraud correlation assessed.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5291273"/>
            <a:ext cx="8562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Examined correlation between customer risk scores and fraud occurrence. </a:t>
            </a:r>
          </a:p>
          <a:p>
            <a:r>
              <a:rPr lang="en-US" dirty="0"/>
              <a:t>Scatter plot visualizes relationship pattern between variables.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DDE7F0-0C52-46D2-8CD2-E71AED72C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76379" cy="4982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9F505A-D807-481E-9BE8-50B01CCD8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817" y="4232357"/>
            <a:ext cx="4447222" cy="105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087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774191-F89D-451E-B36F-BA61ED502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7657"/>
            <a:ext cx="5769046" cy="327219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643" y="-15584"/>
            <a:ext cx="5326131" cy="732796"/>
          </a:xfrm>
        </p:spPr>
        <p:txBody>
          <a:bodyPr/>
          <a:lstStyle/>
          <a:p>
            <a:r>
              <a:rPr lang="en-IN" dirty="0"/>
              <a:t>Statistical Test Results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46435" y="504564"/>
            <a:ext cx="3555982" cy="6158419"/>
          </a:xfrm>
        </p:spPr>
        <p:txBody>
          <a:bodyPr/>
          <a:lstStyle/>
          <a:p>
            <a:r>
              <a:rPr lang="en-US" sz="2000" dirty="0"/>
              <a:t>  </a:t>
            </a:r>
            <a:r>
              <a:rPr lang="en-US" sz="2000" b="1" dirty="0"/>
              <a:t>Test Results Summary</a:t>
            </a:r>
          </a:p>
          <a:p>
            <a:endParaRPr lang="en-US" sz="2000" dirty="0"/>
          </a:p>
          <a:p>
            <a:r>
              <a:rPr lang="en-US" sz="2000" dirty="0"/>
              <a:t>1. All statistical tests performed and documented</a:t>
            </a:r>
          </a:p>
          <a:p>
            <a:r>
              <a:rPr lang="en-US" sz="2000" dirty="0"/>
              <a:t>2. P-values compared against α = 0.05 threshold</a:t>
            </a:r>
          </a:p>
          <a:p>
            <a:r>
              <a:rPr lang="en-US" sz="2000" dirty="0"/>
              <a:t>3. Statistical significance determined for each test</a:t>
            </a:r>
          </a:p>
          <a:p>
            <a:r>
              <a:rPr lang="en-US" sz="2000" dirty="0"/>
              <a:t>4. Key findings identified from hypothesis testing</a:t>
            </a:r>
          </a:p>
          <a:p>
            <a:endParaRPr lang="en-US" sz="2000" dirty="0"/>
          </a:p>
          <a:p>
            <a:r>
              <a:rPr lang="en-US" sz="2000" dirty="0"/>
              <a:t>All tests completed successfully.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0" y="5174012"/>
            <a:ext cx="8562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Summary of all statistical tests with test statistics, p-values, and significance evaluation. Results guide business decision-making.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9FC7A-29CA-4576-9546-36D482AB1A51}"/>
              </a:ext>
            </a:extLst>
          </p:cNvPr>
          <p:cNvSpPr txBox="1"/>
          <p:nvPr/>
        </p:nvSpPr>
        <p:spPr>
          <a:xfrm>
            <a:off x="2468323" y="734388"/>
            <a:ext cx="83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6300B-65B7-471B-B704-826E568AD035}"/>
              </a:ext>
            </a:extLst>
          </p:cNvPr>
          <p:cNvSpPr txBox="1"/>
          <p:nvPr/>
        </p:nvSpPr>
        <p:spPr>
          <a:xfrm>
            <a:off x="5245582" y="2668202"/>
            <a:ext cx="921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highlight>
                  <a:srgbClr val="FF0000"/>
                </a:highlight>
              </a:rPr>
              <a:t>RESULT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4B954-0F98-4F13-BDB3-C389CEBEA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943" y="2992541"/>
            <a:ext cx="4687658" cy="1857132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360638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62" y="0"/>
            <a:ext cx="8487090" cy="732796"/>
          </a:xfrm>
        </p:spPr>
        <p:txBody>
          <a:bodyPr/>
          <a:lstStyle/>
          <a:p>
            <a:r>
              <a:rPr lang="en-IN" dirty="0"/>
              <a:t>Assumptions &amp; Limitations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0" y="937970"/>
            <a:ext cx="4929809" cy="4349648"/>
          </a:xfrm>
        </p:spPr>
        <p:txBody>
          <a:bodyPr/>
          <a:lstStyle/>
          <a:p>
            <a:r>
              <a:rPr lang="en-US" sz="1600" b="1" dirty="0"/>
              <a:t>Test Assumptions &amp; Limitations</a:t>
            </a:r>
          </a:p>
          <a:p>
            <a:endParaRPr lang="en-US" sz="1600" dirty="0"/>
          </a:p>
          <a:p>
            <a:r>
              <a:rPr lang="en-US" sz="1600" b="1" dirty="0"/>
              <a:t>T-Test Assumptions:</a:t>
            </a:r>
          </a:p>
          <a:p>
            <a:r>
              <a:rPr lang="en-US" sz="1600" dirty="0"/>
              <a:t>1. Independent samples from each group</a:t>
            </a:r>
          </a:p>
          <a:p>
            <a:r>
              <a:rPr lang="en-US" sz="1600" dirty="0"/>
              <a:t>2. Approximately normal distribution of data</a:t>
            </a:r>
          </a:p>
          <a:p>
            <a:r>
              <a:rPr lang="en-US" sz="1600" dirty="0"/>
              <a:t>3. Similar variance between groups (homoscedasticity)</a:t>
            </a:r>
          </a:p>
          <a:p>
            <a:endParaRPr lang="en-US" sz="1600" dirty="0"/>
          </a:p>
          <a:p>
            <a:r>
              <a:rPr lang="en-US" sz="1600" b="1" dirty="0"/>
              <a:t>ANOVA Assumptions:</a:t>
            </a:r>
          </a:p>
          <a:p>
            <a:r>
              <a:rPr lang="en-US" sz="1600" dirty="0"/>
              <a:t>1. Independence of observations</a:t>
            </a:r>
          </a:p>
          <a:p>
            <a:r>
              <a:rPr lang="en-US" sz="1600" dirty="0"/>
              <a:t>2. Normal distribution within each group</a:t>
            </a:r>
          </a:p>
          <a:p>
            <a:r>
              <a:rPr lang="en-US" sz="1600" dirty="0"/>
              <a:t>3. Equal variances across groups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365362" y="6492875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D9687-AAAE-420A-BC50-0F01DBC65399}"/>
              </a:ext>
            </a:extLst>
          </p:cNvPr>
          <p:cNvSpPr txBox="1"/>
          <p:nvPr/>
        </p:nvSpPr>
        <p:spPr>
          <a:xfrm>
            <a:off x="7262193" y="937970"/>
            <a:ext cx="611587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6"/>
                </a:solidFill>
              </a:rPr>
              <a:t>Chi-Square Assumptions: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1. Independent observations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2. Sufficient expected frequency (≥5 per cell)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3. Categorical variables</a:t>
            </a:r>
          </a:p>
          <a:p>
            <a:endParaRPr lang="en-IN" sz="1600" dirty="0">
              <a:solidFill>
                <a:schemeClr val="accent6"/>
              </a:solidFill>
            </a:endParaRPr>
          </a:p>
          <a:p>
            <a:r>
              <a:rPr lang="en-IN" sz="1600" b="1" dirty="0">
                <a:solidFill>
                  <a:schemeClr val="accent6"/>
                </a:solidFill>
              </a:rPr>
              <a:t>Correlation Assumptions: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1. Linear relationship between variables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2. No significant outliers affecting results</a:t>
            </a:r>
          </a:p>
          <a:p>
            <a:endParaRPr lang="en-IN" sz="1600" dirty="0">
              <a:solidFill>
                <a:schemeClr val="accent6"/>
              </a:solidFill>
            </a:endParaRPr>
          </a:p>
          <a:p>
            <a:r>
              <a:rPr lang="en-IN" sz="1600" b="1" dirty="0">
                <a:solidFill>
                  <a:schemeClr val="accent6"/>
                </a:solidFill>
              </a:rPr>
              <a:t>Limitations: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- Sample size may affect test power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- Some assumptions may be violated in real-world data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- Results should be interpreted with business context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28D1D2-7C11-46A8-9CFA-66E6C2BFC810}"/>
              </a:ext>
            </a:extLst>
          </p:cNvPr>
          <p:cNvSpPr txBox="1"/>
          <p:nvPr/>
        </p:nvSpPr>
        <p:spPr>
          <a:xfrm>
            <a:off x="7262193" y="4436353"/>
            <a:ext cx="61158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Documentation</a:t>
            </a:r>
          </a:p>
          <a:p>
            <a:endParaRPr lang="en-IN" dirty="0"/>
          </a:p>
          <a:p>
            <a:r>
              <a:rPr lang="en-IN" dirty="0"/>
              <a:t>1. Statistical test assumptions documented.</a:t>
            </a:r>
          </a:p>
          <a:p>
            <a:r>
              <a:rPr lang="en-IN" dirty="0"/>
              <a:t>2. Data requirements verified.</a:t>
            </a:r>
          </a:p>
          <a:p>
            <a:r>
              <a:rPr lang="en-IN" dirty="0"/>
              <a:t>3. Limitations acknowledged.</a:t>
            </a:r>
          </a:p>
          <a:p>
            <a:r>
              <a:rPr lang="en-IN" dirty="0"/>
              <a:t>4. Results interpreted with appropriate context.</a:t>
            </a:r>
          </a:p>
          <a:p>
            <a:endParaRPr lang="en-IN" dirty="0"/>
          </a:p>
          <a:p>
            <a:r>
              <a:rPr lang="en-IN" dirty="0"/>
              <a:t>Professional statistical analysis.</a:t>
            </a:r>
          </a:p>
        </p:txBody>
      </p:sp>
    </p:spTree>
    <p:extLst>
      <p:ext uri="{BB962C8B-B14F-4D97-AF65-F5344CB8AC3E}">
        <p14:creationId xmlns:p14="http://schemas.microsoft.com/office/powerpoint/2010/main" val="23472303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141" y="-19094"/>
            <a:ext cx="8487090" cy="732796"/>
          </a:xfrm>
        </p:spPr>
        <p:txBody>
          <a:bodyPr/>
          <a:lstStyle/>
          <a:p>
            <a:r>
              <a:rPr lang="en-IN" dirty="0"/>
              <a:t>Summary of Step 7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7581" y="1085114"/>
            <a:ext cx="6891130" cy="3887931"/>
          </a:xfrm>
        </p:spPr>
        <p:txBody>
          <a:bodyPr/>
          <a:lstStyle/>
          <a:p>
            <a:r>
              <a:rPr lang="en-US" sz="2000" dirty="0"/>
              <a:t>1. Performed T-tests to compare transaction amounts across device types and regions.</a:t>
            </a:r>
          </a:p>
          <a:p>
            <a:r>
              <a:rPr lang="en-US" sz="2000" dirty="0"/>
              <a:t>2. Applied ANOVA to evaluate fraud rate variability by merchant type.</a:t>
            </a:r>
          </a:p>
          <a:p>
            <a:r>
              <a:rPr lang="en-US" sz="2000" dirty="0"/>
              <a:t>3. Conducted Chi-square tests to examine associations between fraud and transaction channels.</a:t>
            </a:r>
          </a:p>
          <a:p>
            <a:r>
              <a:rPr lang="en-US" sz="2000" dirty="0"/>
              <a:t>4. Analyzed correlation between customer </a:t>
            </a:r>
            <a:r>
              <a:rPr lang="en-US" sz="2000" dirty="0" err="1"/>
              <a:t>risk_score</a:t>
            </a:r>
            <a:r>
              <a:rPr lang="en-US" sz="2000" dirty="0"/>
              <a:t> and fraud occurrence patterns.</a:t>
            </a:r>
          </a:p>
          <a:p>
            <a:r>
              <a:rPr lang="en-US" sz="2000" dirty="0"/>
              <a:t>5. Summarized all test results with p-values and significance levels.</a:t>
            </a:r>
          </a:p>
          <a:p>
            <a:r>
              <a:rPr lang="en-US" sz="2000" dirty="0"/>
              <a:t>6. Documented statistical assumptions and limitations for proper interpretation.</a:t>
            </a:r>
          </a:p>
          <a:p>
            <a:r>
              <a:rPr lang="en-US" sz="2000" dirty="0"/>
              <a:t>7. Statistical validation complete - ready for fraud detection modeling in Step 8.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365362" y="6492875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09528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27" y="78949"/>
            <a:ext cx="13385572" cy="732796"/>
          </a:xfrm>
        </p:spPr>
        <p:txBody>
          <a:bodyPr/>
          <a:lstStyle/>
          <a:p>
            <a:r>
              <a:rPr lang="en-US" sz="4000" dirty="0"/>
              <a:t>Step 8: Power BI Dashboard Development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65927" y="1246495"/>
            <a:ext cx="6535556" cy="3887931"/>
          </a:xfrm>
        </p:spPr>
        <p:txBody>
          <a:bodyPr/>
          <a:lstStyle/>
          <a:p>
            <a:r>
              <a:rPr lang="en-US" sz="2000" b="1" dirty="0"/>
              <a:t>Objective:</a:t>
            </a:r>
          </a:p>
          <a:p>
            <a:endParaRPr lang="en-US" sz="2000" dirty="0"/>
          </a:p>
          <a:p>
            <a:r>
              <a:rPr lang="en-US" sz="2000" dirty="0"/>
              <a:t>1. Build executive dashboards for performance monitoring and decision support.</a:t>
            </a:r>
          </a:p>
          <a:p>
            <a:r>
              <a:rPr lang="en-US" sz="2000" dirty="0"/>
              <a:t>2. Connect Power BI Desktop to MySQL database containing UPI transaction data.</a:t>
            </a:r>
          </a:p>
          <a:p>
            <a:r>
              <a:rPr lang="en-US" sz="2000" dirty="0"/>
              <a:t>3. Create integrated data model using all 7 tables with proper relationships.</a:t>
            </a:r>
          </a:p>
          <a:p>
            <a:r>
              <a:rPr lang="en-US" sz="2000" dirty="0"/>
              <a:t>4. Develop Executive Dashboard with KPIs, trends, and comparison charts.</a:t>
            </a:r>
          </a:p>
          <a:p>
            <a:r>
              <a:rPr lang="en-US" sz="2000" dirty="0"/>
              <a:t>5. Build Operations/Fraud Dashboard with drill-down views and analytics.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93456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0" y="52443"/>
            <a:ext cx="8664905" cy="732796"/>
          </a:xfrm>
        </p:spPr>
        <p:txBody>
          <a:bodyPr/>
          <a:lstStyle/>
          <a:p>
            <a:r>
              <a:rPr lang="en-IN" dirty="0"/>
              <a:t>Database Connection &amp; Data Model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46435" y="504564"/>
            <a:ext cx="3555982" cy="6158419"/>
          </a:xfrm>
        </p:spPr>
        <p:txBody>
          <a:bodyPr/>
          <a:lstStyle/>
          <a:p>
            <a:r>
              <a:rPr lang="en-US" sz="2000" b="1" dirty="0"/>
              <a:t>         Data Integration</a:t>
            </a:r>
          </a:p>
          <a:p>
            <a:endParaRPr lang="en-US" sz="2000" dirty="0"/>
          </a:p>
          <a:p>
            <a:r>
              <a:rPr lang="en-US" sz="2000" dirty="0"/>
              <a:t>1. Connected Power BI to MySQL </a:t>
            </a:r>
            <a:r>
              <a:rPr lang="en-US" sz="2000" dirty="0" err="1"/>
              <a:t>upi_project</a:t>
            </a:r>
            <a:r>
              <a:rPr lang="en-US" sz="2000" dirty="0"/>
              <a:t> database.</a:t>
            </a:r>
          </a:p>
          <a:p>
            <a:r>
              <a:rPr lang="en-US" sz="2000" dirty="0"/>
              <a:t>2. Loaded all 7 tables successfully.</a:t>
            </a:r>
          </a:p>
          <a:p>
            <a:r>
              <a:rPr lang="en-US" sz="2000" dirty="0"/>
              <a:t>3. Established relationships between tables.</a:t>
            </a:r>
          </a:p>
          <a:p>
            <a:r>
              <a:rPr lang="en-US" sz="2000" dirty="0"/>
              <a:t>4. Data model ready for visualization.</a:t>
            </a:r>
          </a:p>
          <a:p>
            <a:endParaRPr lang="en-US" sz="2000" dirty="0"/>
          </a:p>
          <a:p>
            <a:r>
              <a:rPr lang="en-US" sz="2000" dirty="0"/>
              <a:t>Database integrated successfully.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9940" y="6469021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48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-9190" y="5472382"/>
            <a:ext cx="8562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Connected Power BI to SQL database and created data model with proper </a:t>
            </a:r>
          </a:p>
          <a:p>
            <a:r>
              <a:rPr lang="en-US" dirty="0"/>
              <a:t>relationships. All 7 tables integrated for comprehensive analysis.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A96D72-DF9E-44A2-8377-075292678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" y="826299"/>
            <a:ext cx="8716924" cy="44878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5943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0" y="52443"/>
            <a:ext cx="8664905" cy="732796"/>
          </a:xfrm>
        </p:spPr>
        <p:txBody>
          <a:bodyPr/>
          <a:lstStyle/>
          <a:p>
            <a:r>
              <a:rPr lang="en-IN" dirty="0"/>
              <a:t>Executive Dashboard - Key Metrics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10832" y="769149"/>
            <a:ext cx="3691585" cy="6158419"/>
          </a:xfrm>
        </p:spPr>
        <p:txBody>
          <a:bodyPr/>
          <a:lstStyle/>
          <a:p>
            <a:pPr algn="ctr"/>
            <a:r>
              <a:rPr lang="en-US" sz="2000" b="1" dirty="0"/>
              <a:t>Key Performance Indicators</a:t>
            </a:r>
          </a:p>
          <a:p>
            <a:endParaRPr lang="en-US" sz="2000" dirty="0"/>
          </a:p>
          <a:p>
            <a:r>
              <a:rPr lang="en-US" sz="2000" dirty="0"/>
              <a:t>1. Total Transactions: 100,000 transactions processed.</a:t>
            </a:r>
          </a:p>
          <a:p>
            <a:r>
              <a:rPr lang="en-US" sz="2000" dirty="0"/>
              <a:t>2. Total Amount: ₹4.24M total value processed.</a:t>
            </a:r>
          </a:p>
          <a:p>
            <a:r>
              <a:rPr lang="en-US" sz="2000" dirty="0"/>
              <a:t>3. Average Transaction: ₹42.42 per transaction.</a:t>
            </a:r>
          </a:p>
          <a:p>
            <a:r>
              <a:rPr lang="en-US" sz="2000" dirty="0"/>
              <a:t>4. Fraud Count: 2,000 fraud cases identified.</a:t>
            </a:r>
          </a:p>
          <a:p>
            <a:r>
              <a:rPr lang="en-US" sz="2000" dirty="0"/>
              <a:t>5. Failure Rate: 5.87% transactions failed.</a:t>
            </a:r>
          </a:p>
          <a:p>
            <a:endParaRPr lang="en-US" sz="2000" dirty="0"/>
          </a:p>
          <a:p>
            <a:pPr algn="ctr"/>
            <a:r>
              <a:rPr lang="en-US" sz="2000" dirty="0"/>
              <a:t>Real-time metrics tracking.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-9190" y="6562443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49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-9190" y="5571589"/>
            <a:ext cx="78544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Executive dashboard displays 5 key performance indicators tracking 100K </a:t>
            </a:r>
          </a:p>
          <a:p>
            <a:r>
              <a:rPr lang="en-US" dirty="0"/>
              <a:t>transactions worth ₹4.24M. Real-time metrics show 2,000 fraud cases and </a:t>
            </a:r>
          </a:p>
          <a:p>
            <a:r>
              <a:rPr lang="en-US" dirty="0"/>
              <a:t>5.87% failure rate for quick business insights.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31FFD0-38B0-4B98-AE13-39CE136A0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7227"/>
            <a:ext cx="852487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515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0" y="52443"/>
            <a:ext cx="10294922" cy="732796"/>
          </a:xfrm>
        </p:spPr>
        <p:txBody>
          <a:bodyPr/>
          <a:lstStyle/>
          <a:p>
            <a:r>
              <a:rPr lang="en-IN" dirty="0"/>
              <a:t>Executive Dashboard - Analytics &amp; Trends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10832" y="769149"/>
            <a:ext cx="3691585" cy="6158419"/>
          </a:xfrm>
        </p:spPr>
        <p:txBody>
          <a:bodyPr/>
          <a:lstStyle/>
          <a:p>
            <a:pPr algn="ctr"/>
            <a:r>
              <a:rPr lang="en-US" sz="2000" b="1" dirty="0"/>
              <a:t>Visual Analytics</a:t>
            </a:r>
          </a:p>
          <a:p>
            <a:pPr algn="ctr"/>
            <a:endParaRPr lang="en-US" sz="2000" dirty="0"/>
          </a:p>
          <a:p>
            <a:r>
              <a:rPr lang="en-US" sz="2000" dirty="0"/>
              <a:t>1. Line charts show transaction trends over time.</a:t>
            </a:r>
          </a:p>
          <a:p>
            <a:r>
              <a:rPr lang="en-US" sz="2000" dirty="0"/>
              <a:t>2. Donut charts display transaction type distribution.</a:t>
            </a:r>
          </a:p>
          <a:p>
            <a:r>
              <a:rPr lang="en-US" sz="2000" dirty="0"/>
              <a:t>3. Bar charts compare top merchants performance.</a:t>
            </a:r>
          </a:p>
          <a:p>
            <a:r>
              <a:rPr lang="en-US" sz="2000" dirty="0"/>
              <a:t>4. Interactive filters enable drill-down analysis.</a:t>
            </a:r>
          </a:p>
          <a:p>
            <a:endParaRPr lang="en-US" sz="2000" dirty="0"/>
          </a:p>
          <a:p>
            <a:r>
              <a:rPr lang="en-US" sz="2000" dirty="0"/>
              <a:t>Dynamic visualizations provided.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-9190" y="6562443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50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-9190" y="5754151"/>
            <a:ext cx="78544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Dashboard includes interactive charts for trend analysis and comparisons. </a:t>
            </a:r>
          </a:p>
          <a:p>
            <a:r>
              <a:rPr lang="en-US" dirty="0"/>
              <a:t>Filters allow users to explore data by region, device, merchant, and time.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FA4C60-57B3-4602-A3FB-877A776F8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3015"/>
            <a:ext cx="853440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11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44" y="36353"/>
            <a:ext cx="10294922" cy="732796"/>
          </a:xfrm>
        </p:spPr>
        <p:txBody>
          <a:bodyPr/>
          <a:lstStyle/>
          <a:p>
            <a:r>
              <a:rPr lang="en-IN" dirty="0"/>
              <a:t>Fraud Analysis Dashboard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43925" y="769149"/>
            <a:ext cx="3758493" cy="6158419"/>
          </a:xfrm>
        </p:spPr>
        <p:txBody>
          <a:bodyPr/>
          <a:lstStyle/>
          <a:p>
            <a:pPr algn="ctr"/>
            <a:r>
              <a:rPr lang="en-US" sz="2000" b="1" dirty="0"/>
              <a:t>Fraud Analytics</a:t>
            </a:r>
          </a:p>
          <a:p>
            <a:endParaRPr lang="en-US" sz="2000" dirty="0"/>
          </a:p>
          <a:p>
            <a:r>
              <a:rPr lang="en-US" sz="2000" dirty="0"/>
              <a:t>1. Fraud cases and amounts tracked separately.</a:t>
            </a:r>
          </a:p>
          <a:p>
            <a:r>
              <a:rPr lang="en-US" sz="2000" dirty="0"/>
              <a:t>2. Monthly fraud trends visualized.</a:t>
            </a:r>
          </a:p>
          <a:p>
            <a:r>
              <a:rPr lang="en-US" sz="2000" dirty="0"/>
              <a:t>3. High-risk devices and merchants identified.</a:t>
            </a:r>
          </a:p>
          <a:p>
            <a:r>
              <a:rPr lang="en-US" sz="2000" dirty="0"/>
              <a:t>4. Drill-down tables for detailed investigation.</a:t>
            </a:r>
          </a:p>
          <a:p>
            <a:endParaRPr lang="en-US" sz="2000" dirty="0"/>
          </a:p>
          <a:p>
            <a:r>
              <a:rPr lang="en-US" sz="2000" dirty="0"/>
              <a:t>Fraud patterns analyzed.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-9190" y="6562443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51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-9190" y="5754151"/>
            <a:ext cx="8095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Operations dashboard provides detailed fraud analytics with drill-down </a:t>
            </a:r>
          </a:p>
          <a:p>
            <a:r>
              <a:rPr lang="en-US" dirty="0"/>
              <a:t>capabilities. Enables fraud analysts to identify patterns and high-risk segments.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E781C-5EFD-4948-AD4C-E8F4929C4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763015"/>
            <a:ext cx="85248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322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867"/>
            <a:ext cx="10294922" cy="732796"/>
          </a:xfrm>
        </p:spPr>
        <p:txBody>
          <a:bodyPr/>
          <a:lstStyle/>
          <a:p>
            <a:r>
              <a:rPr lang="en-IN" dirty="0"/>
              <a:t>Interactive Features &amp; User Experience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43925" y="602623"/>
            <a:ext cx="3758493" cy="6158419"/>
          </a:xfrm>
        </p:spPr>
        <p:txBody>
          <a:bodyPr/>
          <a:lstStyle/>
          <a:p>
            <a:pPr algn="ctr"/>
            <a:r>
              <a:rPr lang="en-US" sz="2000" b="1" dirty="0"/>
              <a:t>User Features</a:t>
            </a:r>
          </a:p>
          <a:p>
            <a:endParaRPr lang="en-US" sz="2000" dirty="0"/>
          </a:p>
          <a:p>
            <a:r>
              <a:rPr lang="en-US" sz="2000" dirty="0"/>
              <a:t>1. Interactive slicers for Region, Device Type, Status, and Merchant Name.</a:t>
            </a:r>
          </a:p>
          <a:p>
            <a:r>
              <a:rPr lang="en-US" sz="2000" dirty="0"/>
              <a:t>2. Cross-filtering between visuals for dynamic analysis.</a:t>
            </a:r>
          </a:p>
          <a:p>
            <a:r>
              <a:rPr lang="en-US" sz="2000" dirty="0"/>
              <a:t>3. Alert Type and Resolution Status filters on Fraud Dashboard.</a:t>
            </a:r>
          </a:p>
          <a:p>
            <a:r>
              <a:rPr lang="en-US" sz="2000" dirty="0"/>
              <a:t>4. Date Range selector for time-based exploration.</a:t>
            </a:r>
          </a:p>
          <a:p>
            <a:r>
              <a:rPr lang="en-US" sz="2000" dirty="0"/>
              <a:t>User-friendly interface.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75690" y="6578479"/>
            <a:ext cx="4114800" cy="365125"/>
          </a:xfrm>
        </p:spPr>
        <p:txBody>
          <a:bodyPr/>
          <a:lstStyle/>
          <a:p>
            <a:r>
              <a:rPr lang="en-IN" dirty="0"/>
              <a:t>UPI Transaction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52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66612-75CD-4EE5-B07B-632CCFCE9697}"/>
              </a:ext>
            </a:extLst>
          </p:cNvPr>
          <p:cNvSpPr txBox="1"/>
          <p:nvPr/>
        </p:nvSpPr>
        <p:spPr>
          <a:xfrm>
            <a:off x="75690" y="5968741"/>
            <a:ext cx="9793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Dashboards designed with interactivity and ease of use in mind. </a:t>
            </a:r>
          </a:p>
          <a:p>
            <a:r>
              <a:rPr lang="en-US" dirty="0"/>
              <a:t>Multiple filters and slicers enable dynamic data exploration without requiring technical knowledge.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34F29A-6DF9-46D1-AA0B-56EC9681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1" y="3092815"/>
            <a:ext cx="6081129" cy="2784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E592F5-6914-4C53-81F4-2C62F8C38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06436"/>
            <a:ext cx="8459856" cy="189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393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141" y="-19094"/>
            <a:ext cx="8487090" cy="732796"/>
          </a:xfrm>
        </p:spPr>
        <p:txBody>
          <a:bodyPr/>
          <a:lstStyle/>
          <a:p>
            <a:r>
              <a:rPr lang="en-IN" dirty="0"/>
              <a:t>Summary of Step 8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7581" y="937969"/>
            <a:ext cx="6891130" cy="3887931"/>
          </a:xfrm>
        </p:spPr>
        <p:txBody>
          <a:bodyPr/>
          <a:lstStyle/>
          <a:p>
            <a:r>
              <a:rPr lang="en-US" sz="2000" dirty="0"/>
              <a:t>1. Successfully connected Power BI Desktop to MySQL </a:t>
            </a:r>
            <a:r>
              <a:rPr lang="en-US" sz="2000" dirty="0" err="1"/>
              <a:t>upi_project</a:t>
            </a:r>
            <a:r>
              <a:rPr lang="en-US" sz="2000" dirty="0"/>
              <a:t> database.</a:t>
            </a:r>
          </a:p>
          <a:p>
            <a:r>
              <a:rPr lang="en-US" sz="2000" dirty="0"/>
              <a:t>2. Created integrated data model with all 7 tables and proper relationships.</a:t>
            </a:r>
          </a:p>
          <a:p>
            <a:r>
              <a:rPr lang="en-US" sz="2000" dirty="0"/>
              <a:t>3. Built Executive Dashboard with 5 KPIs (Total Transactions: 100K, Total Amount: 4.24M, Avg: 42.42, Fraud Count: 2K, Failure Rate: 5.87%), </a:t>
            </a:r>
          </a:p>
          <a:p>
            <a:r>
              <a:rPr lang="en-US" sz="2000" dirty="0"/>
              <a:t>   trend charts, and comparison visualizations.4. Developed Operations/Fraud Dashboard with detailed fraud analytics and drill-down views.</a:t>
            </a:r>
          </a:p>
          <a:p>
            <a:r>
              <a:rPr lang="en-US" sz="2000" dirty="0"/>
              <a:t>5. Implemented interactive filters and slicers for dynamic data exploration.</a:t>
            </a:r>
          </a:p>
          <a:p>
            <a:r>
              <a:rPr lang="en-US" sz="2000" dirty="0"/>
              <a:t>6. Designed clean, user-friendly dashboards suitable for non-technical audiences.</a:t>
            </a:r>
          </a:p>
          <a:p>
            <a:r>
              <a:rPr lang="en-US" sz="2000" dirty="0"/>
              <a:t>7. Dashboards ready for business decision-making and fraud monitoring.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/>
          <a:stretch/>
        </p:blipFill>
        <p:spPr>
          <a:xfrm>
            <a:off x="7493157" y="1703037"/>
            <a:ext cx="4698843" cy="3715630"/>
          </a:xfrm>
        </p:spPr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60169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5999" y="3093990"/>
            <a:ext cx="4028661" cy="187979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Presented by:</a:t>
            </a:r>
            <a:r>
              <a:rPr lang="en-IN" dirty="0"/>
              <a:t> </a:t>
            </a:r>
            <a:r>
              <a:rPr lang="en-US" dirty="0"/>
              <a:t>Nitish Sharma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Email:</a:t>
            </a:r>
            <a:r>
              <a:rPr lang="en-US" dirty="0"/>
              <a:t> nitishsharma13777@gmail.com</a:t>
            </a:r>
          </a:p>
          <a:p>
            <a:endParaRPr lang="en-US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2914</TotalTime>
  <Words>4011</Words>
  <Application>Microsoft Office PowerPoint</Application>
  <PresentationFormat>Widescreen</PresentationFormat>
  <Paragraphs>654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等线</vt:lpstr>
      <vt:lpstr>Abadi</vt:lpstr>
      <vt:lpstr>Arial</vt:lpstr>
      <vt:lpstr>Calibri</vt:lpstr>
      <vt:lpstr>Posterama</vt:lpstr>
      <vt:lpstr>Posterama Text Black</vt:lpstr>
      <vt:lpstr>Posterama Text SemiBold</vt:lpstr>
      <vt:lpstr>Custom​​</vt:lpstr>
      <vt:lpstr>UPI Transaction Analysis – Business Understanding</vt:lpstr>
      <vt:lpstr>Key Business Challenges</vt:lpstr>
      <vt:lpstr>Analytical Goals of the Project</vt:lpstr>
      <vt:lpstr>Important KPIs to Measure</vt:lpstr>
      <vt:lpstr>Hypotheses and Next Step</vt:lpstr>
      <vt:lpstr>Data Validation Using Excel</vt:lpstr>
      <vt:lpstr>Verifying Data Relationships</vt:lpstr>
      <vt:lpstr>Data Validation – Blank &amp; Missing Fields</vt:lpstr>
      <vt:lpstr>Data Cleaning: Timestamp Correction</vt:lpstr>
      <vt:lpstr>Cleaning and Standardizing Data</vt:lpstr>
      <vt:lpstr>Data Quality Log Summary</vt:lpstr>
      <vt:lpstr>Step 2 Summary</vt:lpstr>
      <vt:lpstr>Step 3: Database Design and Table Creation (SQL DDL)</vt:lpstr>
      <vt:lpstr>Database Setup in MySQL</vt:lpstr>
      <vt:lpstr>Table Creation Using SQL </vt:lpstr>
      <vt:lpstr>Table Schema Validation</vt:lpstr>
      <vt:lpstr>Entity Relationship (ER) Diagram</vt:lpstr>
      <vt:lpstr>Summary of Step 3</vt:lpstr>
      <vt:lpstr>Step 4: Data Import into MySQL</vt:lpstr>
      <vt:lpstr>Import Process Overview</vt:lpstr>
      <vt:lpstr>Datasets Imported</vt:lpstr>
      <vt:lpstr>Data Verification</vt:lpstr>
      <vt:lpstr>Relationship Validation Using SQL Joins</vt:lpstr>
      <vt:lpstr>Challenges Faced &amp; Solutions</vt:lpstr>
      <vt:lpstr>Summary of Step 4</vt:lpstr>
      <vt:lpstr>Step 5: Connecting Python to SQL</vt:lpstr>
      <vt:lpstr>Library Installation &amp; Setup</vt:lpstr>
      <vt:lpstr>MySQL Database Connection</vt:lpstr>
      <vt:lpstr>Loading Data into Data Frames</vt:lpstr>
      <vt:lpstr>Schema &amp; Data Validation</vt:lpstr>
      <vt:lpstr>Summary of Step 5</vt:lpstr>
      <vt:lpstr>Step 6: Data Cleaning, Transformations &amp; EDA</vt:lpstr>
      <vt:lpstr>Data Cleaning</vt:lpstr>
      <vt:lpstr>Normalization &amp; Standardization</vt:lpstr>
      <vt:lpstr>Feature Engineering</vt:lpstr>
      <vt:lpstr>Temporal Trends</vt:lpstr>
      <vt:lpstr>EDA - Heatmaps &amp; Boxplots</vt:lpstr>
      <vt:lpstr>Summary of Step 6</vt:lpstr>
      <vt:lpstr>Step 7: Statistical Analysis in Python</vt:lpstr>
      <vt:lpstr>T-Tests Analysis</vt:lpstr>
      <vt:lpstr>ANOVA Test</vt:lpstr>
      <vt:lpstr>Chi-Square Test</vt:lpstr>
      <vt:lpstr>Correlation Analysis</vt:lpstr>
      <vt:lpstr>Statistical Test Results</vt:lpstr>
      <vt:lpstr>Assumptions &amp; Limitations</vt:lpstr>
      <vt:lpstr>Summary of Step 7</vt:lpstr>
      <vt:lpstr>Step 8: Power BI Dashboard Development</vt:lpstr>
      <vt:lpstr>Database Connection &amp; Data Model</vt:lpstr>
      <vt:lpstr>Executive Dashboard - Key Metrics</vt:lpstr>
      <vt:lpstr>Executive Dashboard - Analytics &amp; Trends</vt:lpstr>
      <vt:lpstr>Fraud Analysis Dashboard</vt:lpstr>
      <vt:lpstr>Interactive Features &amp; User Experience</vt:lpstr>
      <vt:lpstr>Summary of Step 8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nitish sharma</dc:creator>
  <cp:lastModifiedBy>nitish sharma</cp:lastModifiedBy>
  <cp:revision>130</cp:revision>
  <dcterms:created xsi:type="dcterms:W3CDTF">2025-10-11T09:41:47Z</dcterms:created>
  <dcterms:modified xsi:type="dcterms:W3CDTF">2025-11-08T18:08:21Z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